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07E76-2288-4206-BD1E-5F6F4B52805B}" v="1" dt="2026-07-23T16:42:40.1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8807" y="628903"/>
            <a:ext cx="13092785" cy="658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65038" y="1881073"/>
            <a:ext cx="2746375" cy="964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150" spc="-150" dirty="0"/>
              <a:t>ACIS-</a:t>
            </a:r>
            <a:r>
              <a:rPr sz="6150" spc="-50" dirty="0"/>
              <a:t>X</a:t>
            </a:r>
            <a:endParaRPr sz="6150"/>
          </a:p>
        </p:txBody>
      </p:sp>
      <p:sp>
        <p:nvSpPr>
          <p:cNvPr id="3" name="object 3"/>
          <p:cNvSpPr txBox="1"/>
          <p:nvPr/>
        </p:nvSpPr>
        <p:spPr>
          <a:xfrm>
            <a:off x="1793875" y="3327654"/>
            <a:ext cx="10587355" cy="1312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b="1" spc="-165" dirty="0">
                <a:latin typeface="Tahoma"/>
                <a:cs typeface="Tahoma"/>
              </a:rPr>
              <a:t>Autonomous</a:t>
            </a:r>
            <a:r>
              <a:rPr sz="4450" b="1" spc="-105" dirty="0">
                <a:latin typeface="Tahoma"/>
                <a:cs typeface="Tahoma"/>
              </a:rPr>
              <a:t> </a:t>
            </a:r>
            <a:r>
              <a:rPr sz="4450" b="1" spc="-110" dirty="0">
                <a:latin typeface="Tahoma"/>
                <a:cs typeface="Tahoma"/>
              </a:rPr>
              <a:t>Credit</a:t>
            </a:r>
            <a:r>
              <a:rPr sz="4450" b="1" spc="-95" dirty="0">
                <a:latin typeface="Tahoma"/>
                <a:cs typeface="Tahoma"/>
              </a:rPr>
              <a:t> </a:t>
            </a:r>
            <a:r>
              <a:rPr sz="4450" b="1" spc="-225" dirty="0">
                <a:latin typeface="Tahoma"/>
                <a:cs typeface="Tahoma"/>
              </a:rPr>
              <a:t>Intelligence</a:t>
            </a:r>
            <a:r>
              <a:rPr sz="4450" b="1" spc="-100" dirty="0">
                <a:latin typeface="Tahoma"/>
                <a:cs typeface="Tahoma"/>
              </a:rPr>
              <a:t> </a:t>
            </a:r>
            <a:r>
              <a:rPr sz="4450" b="1" spc="-55" dirty="0">
                <a:latin typeface="Tahoma"/>
                <a:cs typeface="Tahoma"/>
              </a:rPr>
              <a:t>System</a:t>
            </a:r>
            <a:endParaRPr sz="4450">
              <a:latin typeface="Tahoma"/>
              <a:cs typeface="Tahoma"/>
            </a:endParaRPr>
          </a:p>
          <a:p>
            <a:pPr marL="447040" algn="ctr">
              <a:lnSpc>
                <a:spcPct val="100000"/>
              </a:lnSpc>
              <a:spcBef>
                <a:spcPts val="2690"/>
              </a:spcBef>
            </a:pP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Event-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 Credit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5" dirty="0">
                <a:solidFill>
                  <a:srgbClr val="272424"/>
                </a:solidFill>
                <a:latin typeface="Tahoma"/>
                <a:cs typeface="Tahoma"/>
              </a:rPr>
              <a:t>Intelligence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for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Modern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6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3788" y="4980923"/>
            <a:ext cx="13042900" cy="17145"/>
          </a:xfrm>
          <a:custGeom>
            <a:avLst/>
            <a:gdLst/>
            <a:ahLst/>
            <a:cxnLst/>
            <a:rect l="l" t="t" r="r" b="b"/>
            <a:pathLst>
              <a:path w="13042900" h="17145">
                <a:moveTo>
                  <a:pt x="13042773" y="0"/>
                </a:moveTo>
                <a:lnTo>
                  <a:pt x="0" y="0"/>
                </a:lnTo>
                <a:lnTo>
                  <a:pt x="0" y="16907"/>
                </a:lnTo>
                <a:lnTo>
                  <a:pt x="13042773" y="16907"/>
                </a:lnTo>
                <a:lnTo>
                  <a:pt x="13042773" y="0"/>
                </a:lnTo>
                <a:close/>
              </a:path>
            </a:pathLst>
          </a:custGeom>
          <a:solidFill>
            <a:srgbClr val="272424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09597" y="5351526"/>
            <a:ext cx="10410825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1750" b="1" spc="75" dirty="0">
                <a:solidFill>
                  <a:srgbClr val="272424"/>
                </a:solidFill>
                <a:latin typeface="Tahoma"/>
                <a:cs typeface="Tahoma"/>
              </a:rPr>
              <a:t>MAJOR PROJECT PHASE – II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1750" b="1" dirty="0">
              <a:solidFill>
                <a:srgbClr val="272424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50" b="1" dirty="0">
                <a:solidFill>
                  <a:srgbClr val="272424"/>
                </a:solidFill>
                <a:latin typeface="Tahoma"/>
                <a:cs typeface="Tahoma"/>
              </a:rPr>
              <a:t>TEAM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MEMBERS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-120" dirty="0">
                <a:solidFill>
                  <a:srgbClr val="272424"/>
                </a:solidFill>
                <a:latin typeface="Tahoma"/>
                <a:cs typeface="Tahoma"/>
              </a:rPr>
              <a:t>: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272424"/>
                </a:solidFill>
                <a:latin typeface="Tahoma"/>
                <a:cs typeface="Tahoma"/>
              </a:rPr>
              <a:t>Nikhil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Nagendra</a:t>
            </a:r>
            <a:r>
              <a:rPr sz="17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,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Nitin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272424"/>
                </a:solidFill>
                <a:latin typeface="Tahoma"/>
                <a:cs typeface="Tahoma"/>
              </a:rPr>
              <a:t>Bharadwaj</a:t>
            </a:r>
            <a:r>
              <a:rPr sz="17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225" dirty="0">
                <a:solidFill>
                  <a:srgbClr val="272424"/>
                </a:solidFill>
                <a:latin typeface="Tahoma"/>
                <a:cs typeface="Tahoma"/>
              </a:rPr>
              <a:t>M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272424"/>
                </a:solidFill>
                <a:latin typeface="Tahoma"/>
                <a:cs typeface="Tahoma"/>
              </a:rPr>
              <a:t>V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45" dirty="0">
                <a:solidFill>
                  <a:srgbClr val="272424"/>
                </a:solidFill>
                <a:latin typeface="Tahoma"/>
                <a:cs typeface="Tahoma"/>
              </a:rPr>
              <a:t>S</a:t>
            </a:r>
            <a:r>
              <a:rPr sz="17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,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5" dirty="0">
                <a:solidFill>
                  <a:srgbClr val="272424"/>
                </a:solidFill>
                <a:latin typeface="Tahoma"/>
                <a:cs typeface="Tahoma"/>
              </a:rPr>
              <a:t>Johan</a:t>
            </a:r>
            <a:r>
              <a:rPr sz="17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40" dirty="0">
                <a:solidFill>
                  <a:srgbClr val="272424"/>
                </a:solidFill>
                <a:latin typeface="Tahoma"/>
                <a:cs typeface="Tahoma"/>
              </a:rPr>
              <a:t>K</a:t>
            </a:r>
            <a:r>
              <a:rPr sz="17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272424"/>
                </a:solidFill>
                <a:latin typeface="Tahoma"/>
                <a:cs typeface="Tahoma"/>
              </a:rPr>
              <a:t>George</a:t>
            </a:r>
            <a:r>
              <a:rPr sz="17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,</a:t>
            </a:r>
            <a:r>
              <a:rPr sz="17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Prasanna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272424"/>
                </a:solidFill>
                <a:latin typeface="Tahoma"/>
                <a:cs typeface="Tahoma"/>
              </a:rPr>
              <a:t>B</a:t>
            </a:r>
            <a:r>
              <a:rPr sz="17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272424"/>
                </a:solidFill>
                <a:latin typeface="Tahoma"/>
                <a:cs typeface="Tahoma"/>
              </a:rPr>
              <a:t>Acharya</a:t>
            </a:r>
            <a:endParaRPr sz="17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7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50" b="1" dirty="0">
                <a:solidFill>
                  <a:srgbClr val="272424"/>
                </a:solidFill>
                <a:latin typeface="Tahoma"/>
                <a:cs typeface="Tahoma"/>
              </a:rPr>
              <a:t>PROJECT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95" dirty="0">
                <a:solidFill>
                  <a:srgbClr val="272424"/>
                </a:solidFill>
                <a:latin typeface="Tahoma"/>
                <a:cs typeface="Tahoma"/>
              </a:rPr>
              <a:t>GUIDE</a:t>
            </a:r>
            <a:r>
              <a:rPr sz="1750" b="1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Prof.</a:t>
            </a:r>
            <a:r>
              <a:rPr sz="17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272424"/>
                </a:solidFill>
                <a:latin typeface="Tahoma"/>
                <a:cs typeface="Tahoma"/>
              </a:rPr>
              <a:t>Pallavi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40" dirty="0">
                <a:solidFill>
                  <a:srgbClr val="272424"/>
                </a:solidFill>
                <a:latin typeface="Tahoma"/>
                <a:cs typeface="Tahoma"/>
              </a:rPr>
              <a:t>K</a:t>
            </a:r>
            <a:r>
              <a:rPr sz="17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155" dirty="0">
                <a:solidFill>
                  <a:srgbClr val="272424"/>
                </a:solidFill>
                <a:latin typeface="Tahoma"/>
                <a:cs typeface="Tahoma"/>
              </a:rPr>
              <a:t>V</a:t>
            </a:r>
            <a:r>
              <a:rPr sz="17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(Department</a:t>
            </a:r>
            <a:r>
              <a:rPr sz="17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7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272424"/>
                </a:solidFill>
                <a:latin typeface="Tahoma"/>
                <a:cs typeface="Tahoma"/>
              </a:rPr>
              <a:t>CSE)</a:t>
            </a:r>
            <a:endParaRPr lang="en-IN" sz="1750" spc="75" dirty="0">
              <a:solidFill>
                <a:srgbClr val="272424"/>
              </a:solidFill>
              <a:latin typeface="Tahoma"/>
              <a:cs typeface="Tahom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34E488-ACE7-088F-E886-252AA5B4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56" y="133101"/>
            <a:ext cx="1389644" cy="13896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98D4AE-485B-C771-B571-E0DDE68D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144825"/>
            <a:ext cx="2761243" cy="1374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50" spc="-114" dirty="0">
                <a:solidFill>
                  <a:srgbClr val="272424"/>
                </a:solidFill>
              </a:rPr>
              <a:t>Abstract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827938" y="1801190"/>
            <a:ext cx="5768975" cy="1723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sz="3300" b="1" spc="-1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3300" b="1" spc="-10" dirty="0">
                <a:solidFill>
                  <a:srgbClr val="272424"/>
                </a:solidFill>
                <a:latin typeface="Tahoma"/>
                <a:cs typeface="Tahoma"/>
              </a:rPr>
              <a:t>Challenge</a:t>
            </a:r>
            <a:endParaRPr sz="3300">
              <a:latin typeface="Tahoma"/>
              <a:cs typeface="Tahoma"/>
            </a:endParaRPr>
          </a:p>
          <a:p>
            <a:pPr marL="12700" marR="5080">
              <a:lnSpc>
                <a:spcPct val="131200"/>
              </a:lnSpc>
              <a:spcBef>
                <a:spcPts val="1610"/>
              </a:spcBef>
            </a:pP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Traditional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monitoring</a:t>
            </a:r>
            <a:r>
              <a:rPr sz="16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sz="16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rely</a:t>
            </a:r>
            <a:r>
              <a:rPr sz="16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sz="16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periodic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evaluations</a:t>
            </a:r>
            <a:r>
              <a:rPr sz="16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manual</a:t>
            </a: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intervention,</a:t>
            </a:r>
            <a:r>
              <a:rPr sz="16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 them</a:t>
            </a:r>
            <a:r>
              <a:rPr sz="16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272424"/>
                </a:solidFill>
                <a:latin typeface="Tahoma"/>
                <a:cs typeface="Tahoma"/>
              </a:rPr>
              <a:t>slow</a:t>
            </a: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sz="1650" spc="85" dirty="0">
                <a:solidFill>
                  <a:srgbClr val="272424"/>
                </a:solidFill>
                <a:latin typeface="Tahoma"/>
                <a:cs typeface="Tahoma"/>
              </a:rPr>
              <a:t>respond</a:t>
            </a:r>
            <a:r>
              <a:rPr sz="16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65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risks.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938" y="3673915"/>
            <a:ext cx="6093460" cy="10147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85"/>
              </a:spcBef>
            </a:pP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Critical</a:t>
            </a:r>
            <a:r>
              <a:rPr sz="16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sz="16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sz="16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payment</a:t>
            </a:r>
            <a:r>
              <a:rPr sz="16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delays,</a:t>
            </a:r>
            <a:r>
              <a:rPr sz="165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litigation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events,</a:t>
            </a:r>
            <a:r>
              <a:rPr sz="16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0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deterioration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sz="16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often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272424"/>
                </a:solidFill>
                <a:latin typeface="Tahoma"/>
                <a:cs typeface="Tahoma"/>
              </a:rPr>
              <a:t>detected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too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late,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leading</a:t>
            </a:r>
            <a:r>
              <a:rPr sz="165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to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poor</a:t>
            </a:r>
            <a:r>
              <a:rPr sz="16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272424"/>
                </a:solidFill>
                <a:latin typeface="Tahoma"/>
                <a:cs typeface="Tahoma"/>
              </a:rPr>
              <a:t>decisions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272424"/>
                </a:solidFill>
                <a:latin typeface="Tahoma"/>
                <a:cs typeface="Tahoma"/>
              </a:rPr>
              <a:t>increased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default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risk.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9454" y="1801190"/>
            <a:ext cx="6235065" cy="139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100" dirty="0">
                <a:solidFill>
                  <a:srgbClr val="272424"/>
                </a:solidFill>
                <a:latin typeface="Tahoma"/>
                <a:cs typeface="Tahoma"/>
              </a:rPr>
              <a:t>Our</a:t>
            </a:r>
            <a:r>
              <a:rPr sz="3300" b="1" spc="-1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3300" b="1" spc="-10" dirty="0">
                <a:solidFill>
                  <a:srgbClr val="272424"/>
                </a:solidFill>
                <a:latin typeface="Tahoma"/>
                <a:cs typeface="Tahoma"/>
              </a:rPr>
              <a:t>Approach</a:t>
            </a:r>
            <a:endParaRPr sz="3300">
              <a:latin typeface="Tahoma"/>
              <a:cs typeface="Tahoma"/>
            </a:endParaRPr>
          </a:p>
          <a:p>
            <a:pPr marL="12700" marR="5080">
              <a:lnSpc>
                <a:spcPct val="130900"/>
              </a:lnSpc>
              <a:spcBef>
                <a:spcPts val="1614"/>
              </a:spcBef>
            </a:pPr>
            <a:r>
              <a:rPr sz="1650" b="1" spc="-45" dirty="0">
                <a:solidFill>
                  <a:srgbClr val="272424"/>
                </a:solidFill>
                <a:latin typeface="Tahoma"/>
                <a:cs typeface="Tahoma"/>
              </a:rPr>
              <a:t>ACIS-</a:t>
            </a:r>
            <a:r>
              <a:rPr sz="1650" b="1" dirty="0">
                <a:solidFill>
                  <a:srgbClr val="272424"/>
                </a:solidFill>
                <a:latin typeface="Tahoma"/>
                <a:cs typeface="Tahoma"/>
              </a:rPr>
              <a:t>X</a:t>
            </a:r>
            <a:r>
              <a:rPr sz="1650" b="1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sz="16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an</a:t>
            </a:r>
            <a:r>
              <a:rPr sz="16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272424"/>
                </a:solidFill>
                <a:latin typeface="Tahoma"/>
                <a:cs typeface="Tahoma"/>
              </a:rPr>
              <a:t>event-</a:t>
            </a:r>
            <a:r>
              <a:rPr sz="1650" b="1" spc="-65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650" b="1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multi-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agent</a:t>
            </a:r>
            <a:r>
              <a:rPr sz="165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272424"/>
                </a:solidFill>
                <a:latin typeface="Tahoma"/>
                <a:cs typeface="Tahoma"/>
              </a:rPr>
              <a:t>that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continuously</a:t>
            </a:r>
            <a:r>
              <a:rPr sz="1650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monitors</a:t>
            </a:r>
            <a:r>
              <a:rPr sz="16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50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behavior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5" dirty="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sz="16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9454" y="3673915"/>
            <a:ext cx="6175375" cy="6838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50" spc="-100" dirty="0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sz="165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integrates</a:t>
            </a:r>
            <a:r>
              <a:rPr sz="165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internal</a:t>
            </a:r>
            <a:r>
              <a:rPr sz="16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transaction</a:t>
            </a:r>
            <a:r>
              <a:rPr sz="165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with</a:t>
            </a:r>
            <a:r>
              <a:rPr sz="165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external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intelligence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650" spc="100" dirty="0">
                <a:solidFill>
                  <a:srgbClr val="272424"/>
                </a:solidFill>
                <a:latin typeface="Tahoma"/>
                <a:cs typeface="Tahoma"/>
              </a:rPr>
              <a:t>sources</a:t>
            </a:r>
            <a:r>
              <a:rPr sz="165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sz="165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r>
              <a:rPr sz="165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litigation</a:t>
            </a:r>
            <a:r>
              <a:rPr sz="165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signals.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9454" y="4509033"/>
            <a:ext cx="601345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900"/>
              </a:lnSpc>
              <a:spcBef>
                <a:spcPts val="95"/>
              </a:spcBef>
            </a:pP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Independent</a:t>
            </a:r>
            <a:r>
              <a:rPr sz="16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agents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272424"/>
                </a:solidFill>
                <a:latin typeface="Tahoma"/>
                <a:cs typeface="Tahoma"/>
              </a:rPr>
              <a:t>process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events</a:t>
            </a:r>
            <a:r>
              <a:rPr sz="16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like</a:t>
            </a:r>
            <a:r>
              <a:rPr sz="16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invoices,</a:t>
            </a:r>
            <a:r>
              <a:rPr sz="16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payments,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50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updates,</a:t>
            </a:r>
            <a:r>
              <a:rPr sz="16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dynamically</a:t>
            </a:r>
            <a:r>
              <a:rPr sz="1650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generating</a:t>
            </a:r>
            <a:r>
              <a:rPr sz="16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6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72424"/>
                </a:solidFill>
                <a:latin typeface="Tahoma"/>
                <a:cs typeface="Tahoma"/>
              </a:rPr>
              <a:t>insights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9454" y="5344439"/>
            <a:ext cx="6156960" cy="1014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1200"/>
              </a:lnSpc>
              <a:spcBef>
                <a:spcPts val="90"/>
              </a:spcBef>
            </a:pPr>
            <a:r>
              <a:rPr sz="1650" spc="145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centralized</a:t>
            </a:r>
            <a:r>
              <a:rPr sz="16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aggregation</a:t>
            </a:r>
            <a:r>
              <a:rPr sz="16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272424"/>
                </a:solidFill>
                <a:latin typeface="Tahoma"/>
                <a:cs typeface="Tahoma"/>
              </a:rPr>
              <a:t>mechanism</a:t>
            </a:r>
            <a:r>
              <a:rPr sz="1650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272424"/>
                </a:solidFill>
                <a:latin typeface="Tahoma"/>
                <a:cs typeface="Tahoma"/>
              </a:rPr>
              <a:t>combines</a:t>
            </a:r>
            <a:r>
              <a:rPr sz="1650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272424"/>
                </a:solidFill>
                <a:latin typeface="Tahoma"/>
                <a:cs typeface="Tahoma"/>
              </a:rPr>
              <a:t>these</a:t>
            </a:r>
            <a:r>
              <a:rPr sz="1650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signals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sz="1650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unified</a:t>
            </a:r>
            <a:r>
              <a:rPr sz="1650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profile,</a:t>
            </a:r>
            <a:r>
              <a:rPr sz="165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272424"/>
                </a:solidFill>
                <a:latin typeface="Tahoma"/>
                <a:cs typeface="Tahoma"/>
              </a:rPr>
              <a:t>enabling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272424"/>
                </a:solidFill>
                <a:latin typeface="Tahoma"/>
                <a:cs typeface="Tahoma"/>
              </a:rPr>
              <a:t>faster,</a:t>
            </a:r>
            <a:r>
              <a:rPr sz="165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72424"/>
                </a:solidFill>
                <a:latin typeface="Tahoma"/>
                <a:cs typeface="Tahoma"/>
              </a:rPr>
              <a:t>automated</a:t>
            </a:r>
            <a:r>
              <a:rPr sz="1650" spc="-10" dirty="0">
                <a:solidFill>
                  <a:srgbClr val="272424"/>
                </a:solidFill>
                <a:latin typeface="Tahoma"/>
                <a:cs typeface="Tahoma"/>
              </a:rPr>
              <a:t>, </a:t>
            </a:r>
            <a:r>
              <a:rPr sz="165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50" spc="1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272424"/>
                </a:solidFill>
                <a:latin typeface="Tahoma"/>
                <a:cs typeface="Tahoma"/>
              </a:rPr>
              <a:t>intelligent</a:t>
            </a:r>
            <a:r>
              <a:rPr sz="1650" spc="1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sz="1650" spc="35" dirty="0">
                <a:solidFill>
                  <a:srgbClr val="272424"/>
                </a:solidFill>
                <a:latin typeface="Tahoma"/>
                <a:cs typeface="Tahoma"/>
              </a:rPr>
              <a:t>making.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018" y="7031228"/>
            <a:ext cx="98209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-45" dirty="0">
                <a:solidFill>
                  <a:srgbClr val="272424"/>
                </a:solidFill>
                <a:latin typeface="Tahoma"/>
                <a:cs typeface="Tahoma"/>
              </a:rPr>
              <a:t>ACIS-</a:t>
            </a:r>
            <a:r>
              <a:rPr sz="1650" b="1" dirty="0">
                <a:solidFill>
                  <a:srgbClr val="272424"/>
                </a:solidFill>
                <a:latin typeface="Tahoma"/>
                <a:cs typeface="Tahoma"/>
              </a:rPr>
              <a:t>X</a:t>
            </a:r>
            <a:r>
              <a:rPr sz="16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5" dirty="0">
                <a:solidFill>
                  <a:srgbClr val="272424"/>
                </a:solidFill>
                <a:latin typeface="Tahoma"/>
                <a:cs typeface="Tahoma"/>
              </a:rPr>
              <a:t>transforms</a:t>
            </a:r>
            <a:r>
              <a:rPr sz="165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6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65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35" dirty="0">
                <a:solidFill>
                  <a:srgbClr val="272424"/>
                </a:solidFill>
                <a:latin typeface="Tahoma"/>
                <a:cs typeface="Tahoma"/>
              </a:rPr>
              <a:t>assessment</a:t>
            </a:r>
            <a:r>
              <a:rPr sz="16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sz="16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272424"/>
                </a:solidFill>
                <a:latin typeface="Tahoma"/>
                <a:cs typeface="Tahoma"/>
              </a:rPr>
              <a:t>reactive</a:t>
            </a:r>
            <a:r>
              <a:rPr sz="16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50" dirty="0">
                <a:solidFill>
                  <a:srgbClr val="272424"/>
                </a:solidFill>
                <a:latin typeface="Tahoma"/>
                <a:cs typeface="Tahoma"/>
              </a:rPr>
              <a:t>analysis</a:t>
            </a:r>
            <a:r>
              <a:rPr sz="16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650" b="1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40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650" b="1" spc="-110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6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95" dirty="0">
                <a:solidFill>
                  <a:srgbClr val="272424"/>
                </a:solidFill>
                <a:latin typeface="Tahoma"/>
                <a:cs typeface="Tahoma"/>
              </a:rPr>
              <a:t>intelligent</a:t>
            </a:r>
            <a:r>
              <a:rPr sz="1650" b="1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50" b="1" spc="-35" dirty="0">
                <a:solidFill>
                  <a:srgbClr val="272424"/>
                </a:solidFill>
                <a:latin typeface="Tahoma"/>
                <a:cs typeface="Tahoma"/>
              </a:rPr>
              <a:t>monitoring.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1405" y="6781444"/>
            <a:ext cx="22860" cy="774700"/>
          </a:xfrm>
          <a:custGeom>
            <a:avLst/>
            <a:gdLst/>
            <a:ahLst/>
            <a:cxnLst/>
            <a:rect l="l" t="t" r="r" b="b"/>
            <a:pathLst>
              <a:path w="22859" h="774700">
                <a:moveTo>
                  <a:pt x="22859" y="0"/>
                </a:moveTo>
                <a:lnTo>
                  <a:pt x="0" y="0"/>
                </a:lnTo>
                <a:lnTo>
                  <a:pt x="0" y="774623"/>
                </a:lnTo>
                <a:lnTo>
                  <a:pt x="22859" y="774623"/>
                </a:lnTo>
                <a:lnTo>
                  <a:pt x="22859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304" y="588390"/>
            <a:ext cx="633603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215" dirty="0"/>
              <a:t>Problem</a:t>
            </a:r>
            <a:r>
              <a:rPr sz="4800" spc="-175" dirty="0"/>
              <a:t> </a:t>
            </a:r>
            <a:r>
              <a:rPr sz="4800" spc="-300" dirty="0"/>
              <a:t>Statement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781304" y="1754886"/>
            <a:ext cx="108839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210" dirty="0">
                <a:latin typeface="Tahoma"/>
                <a:cs typeface="Tahoma"/>
              </a:rPr>
              <a:t>Limitations</a:t>
            </a:r>
            <a:r>
              <a:rPr sz="3600" b="1" spc="-85" dirty="0">
                <a:latin typeface="Tahoma"/>
                <a:cs typeface="Tahoma"/>
              </a:rPr>
              <a:t> </a:t>
            </a:r>
            <a:r>
              <a:rPr sz="3600" b="1" dirty="0">
                <a:latin typeface="Tahoma"/>
                <a:cs typeface="Tahoma"/>
              </a:rPr>
              <a:t>of</a:t>
            </a:r>
            <a:r>
              <a:rPr sz="3600" b="1" spc="-105" dirty="0">
                <a:latin typeface="Tahoma"/>
                <a:cs typeface="Tahoma"/>
              </a:rPr>
              <a:t> </a:t>
            </a:r>
            <a:r>
              <a:rPr sz="3600" b="1" spc="-180" dirty="0">
                <a:latin typeface="Tahoma"/>
                <a:cs typeface="Tahoma"/>
              </a:rPr>
              <a:t>Traditional</a:t>
            </a:r>
            <a:r>
              <a:rPr sz="3600" b="1" spc="-105" dirty="0">
                <a:latin typeface="Tahoma"/>
                <a:cs typeface="Tahoma"/>
              </a:rPr>
              <a:t> </a:t>
            </a:r>
            <a:r>
              <a:rPr sz="3600" b="1" spc="-110" dirty="0">
                <a:latin typeface="Tahoma"/>
                <a:cs typeface="Tahoma"/>
              </a:rPr>
              <a:t>Credit </a:t>
            </a:r>
            <a:r>
              <a:rPr sz="3600" b="1" spc="-185" dirty="0">
                <a:latin typeface="Tahoma"/>
                <a:cs typeface="Tahoma"/>
              </a:rPr>
              <a:t>Risk</a:t>
            </a:r>
            <a:r>
              <a:rPr sz="3600" b="1" spc="-100" dirty="0">
                <a:latin typeface="Tahoma"/>
                <a:cs typeface="Tahoma"/>
              </a:rPr>
              <a:t> </a:t>
            </a:r>
            <a:r>
              <a:rPr sz="3600" b="1" spc="-25" dirty="0">
                <a:latin typeface="Tahoma"/>
                <a:cs typeface="Tahoma"/>
              </a:rPr>
              <a:t>Systems</a:t>
            </a:r>
            <a:endParaRPr sz="36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4515" y="2724981"/>
            <a:ext cx="489584" cy="483234"/>
            <a:chOff x="804515" y="2724981"/>
            <a:chExt cx="489584" cy="483234"/>
          </a:xfrm>
        </p:grpSpPr>
        <p:sp>
          <p:nvSpPr>
            <p:cNvPr id="5" name="object 5"/>
            <p:cNvSpPr/>
            <p:nvPr/>
          </p:nvSpPr>
          <p:spPr>
            <a:xfrm>
              <a:off x="867722" y="3111340"/>
              <a:ext cx="322580" cy="86360"/>
            </a:xfrm>
            <a:custGeom>
              <a:avLst/>
              <a:gdLst/>
              <a:ahLst/>
              <a:cxnLst/>
              <a:rect l="l" t="t" r="r" b="b"/>
              <a:pathLst>
                <a:path w="322580" h="86360">
                  <a:moveTo>
                    <a:pt x="322526" y="39041"/>
                  </a:moveTo>
                  <a:lnTo>
                    <a:pt x="287334" y="60652"/>
                  </a:lnTo>
                  <a:lnTo>
                    <a:pt x="248105" y="76293"/>
                  </a:lnTo>
                  <a:lnTo>
                    <a:pt x="206798" y="84613"/>
                  </a:lnTo>
                  <a:lnTo>
                    <a:pt x="181202" y="85890"/>
                  </a:lnTo>
                  <a:lnTo>
                    <a:pt x="173442" y="85792"/>
                  </a:lnTo>
                  <a:lnTo>
                    <a:pt x="133622" y="80915"/>
                  </a:lnTo>
                  <a:lnTo>
                    <a:pt x="92696" y="67907"/>
                  </a:lnTo>
                  <a:lnTo>
                    <a:pt x="56330" y="49010"/>
                  </a:lnTo>
                  <a:lnTo>
                    <a:pt x="23870" y="24531"/>
                  </a:lnTo>
                  <a:lnTo>
                    <a:pt x="3720" y="4159"/>
                  </a:lnTo>
                  <a:lnTo>
                    <a:pt x="0" y="0"/>
                  </a:lnTo>
                </a:path>
              </a:pathLst>
            </a:custGeom>
            <a:ln w="20749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515" y="2724981"/>
              <a:ext cx="489031" cy="43577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81304" y="3422141"/>
            <a:ext cx="5345430" cy="1045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5" dirty="0">
                <a:solidFill>
                  <a:srgbClr val="272424"/>
                </a:solidFill>
                <a:latin typeface="Tahoma"/>
                <a:cs typeface="Tahoma"/>
              </a:rPr>
              <a:t>Delayed</a:t>
            </a:r>
            <a:r>
              <a:rPr sz="2000" b="1" spc="-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200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72424"/>
                </a:solidFill>
                <a:latin typeface="Tahoma"/>
                <a:cs typeface="Tahoma"/>
              </a:rPr>
              <a:t>Detection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Most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sz="16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rely</a:t>
            </a:r>
            <a:r>
              <a:rPr sz="16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272424"/>
                </a:solidFill>
                <a:latin typeface="Tahoma"/>
                <a:cs typeface="Tahoma"/>
              </a:rPr>
              <a:t>on</a:t>
            </a:r>
            <a:r>
              <a:rPr sz="16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periodic</a:t>
            </a:r>
            <a:r>
              <a:rPr sz="16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272424"/>
                </a:solidFill>
                <a:latin typeface="Tahoma"/>
                <a:cs typeface="Tahoma"/>
              </a:rPr>
              <a:t>evaluations,</a:t>
            </a:r>
            <a:r>
              <a:rPr sz="16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75" dirty="0">
                <a:solidFill>
                  <a:srgbClr val="272424"/>
                </a:solidFill>
                <a:latin typeface="Tahoma"/>
                <a:cs typeface="Tahoma"/>
              </a:rPr>
              <a:t>causing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72424"/>
                </a:solidFill>
                <a:latin typeface="Tahoma"/>
                <a:cs typeface="Tahoma"/>
              </a:rPr>
              <a:t>late </a:t>
            </a:r>
            <a:r>
              <a:rPr sz="1600" spc="45" dirty="0">
                <a:solidFill>
                  <a:srgbClr val="272424"/>
                </a:solidFill>
                <a:latin typeface="Tahoma"/>
                <a:cs typeface="Tahoma"/>
              </a:rPr>
              <a:t>identification</a:t>
            </a:r>
            <a:r>
              <a:rPr sz="16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6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defaults</a:t>
            </a:r>
            <a:r>
              <a:rPr sz="16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stress.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74656" y="2721795"/>
            <a:ext cx="421640" cy="489584"/>
            <a:chOff x="7474656" y="2721795"/>
            <a:chExt cx="421640" cy="489584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4756" y="2729594"/>
              <a:ext cx="131371" cy="1064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86243" y="3037355"/>
              <a:ext cx="122555" cy="52705"/>
            </a:xfrm>
            <a:custGeom>
              <a:avLst/>
              <a:gdLst/>
              <a:ahLst/>
              <a:cxnLst/>
              <a:rect l="l" t="t" r="r" b="b"/>
              <a:pathLst>
                <a:path w="122554" h="52705">
                  <a:moveTo>
                    <a:pt x="122445" y="52271"/>
                  </a:moveTo>
                  <a:lnTo>
                    <a:pt x="79817" y="42678"/>
                  </a:lnTo>
                  <a:lnTo>
                    <a:pt x="43120" y="29137"/>
                  </a:lnTo>
                  <a:lnTo>
                    <a:pt x="7095" y="5919"/>
                  </a:lnTo>
                  <a:lnTo>
                    <a:pt x="0" y="0"/>
                  </a:lnTo>
                </a:path>
              </a:pathLst>
            </a:custGeom>
            <a:ln w="20733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84202" y="2733410"/>
              <a:ext cx="111661" cy="1345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7818" y="3108698"/>
              <a:ext cx="148045" cy="9740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85023" y="2732161"/>
              <a:ext cx="400685" cy="468630"/>
            </a:xfrm>
            <a:custGeom>
              <a:avLst/>
              <a:gdLst/>
              <a:ahLst/>
              <a:cxnLst/>
              <a:rect l="l" t="t" r="r" b="b"/>
              <a:pathLst>
                <a:path w="400684" h="468630">
                  <a:moveTo>
                    <a:pt x="138074" y="464738"/>
                  </a:moveTo>
                  <a:lnTo>
                    <a:pt x="95989" y="457420"/>
                  </a:lnTo>
                  <a:lnTo>
                    <a:pt x="58509" y="446102"/>
                  </a:lnTo>
                  <a:lnTo>
                    <a:pt x="23013" y="427567"/>
                  </a:lnTo>
                  <a:lnTo>
                    <a:pt x="830" y="398597"/>
                  </a:lnTo>
                  <a:lnTo>
                    <a:pt x="228" y="392026"/>
                  </a:lnTo>
                </a:path>
                <a:path w="400684" h="468630">
                  <a:moveTo>
                    <a:pt x="319987" y="242049"/>
                  </a:moveTo>
                  <a:lnTo>
                    <a:pt x="274459" y="251649"/>
                  </a:lnTo>
                  <a:lnTo>
                    <a:pt x="225736" y="256187"/>
                  </a:lnTo>
                  <a:lnTo>
                    <a:pt x="198740" y="256531"/>
                  </a:lnTo>
                  <a:lnTo>
                    <a:pt x="185728" y="256386"/>
                  </a:lnTo>
                  <a:lnTo>
                    <a:pt x="145558" y="253530"/>
                  </a:lnTo>
                  <a:lnTo>
                    <a:pt x="107194" y="248074"/>
                  </a:lnTo>
                  <a:lnTo>
                    <a:pt x="73362" y="240037"/>
                  </a:lnTo>
                  <a:lnTo>
                    <a:pt x="60177" y="235639"/>
                  </a:lnTo>
                </a:path>
                <a:path w="400684" h="468630">
                  <a:moveTo>
                    <a:pt x="336225" y="129815"/>
                  </a:moveTo>
                  <a:lnTo>
                    <a:pt x="295153" y="140813"/>
                  </a:lnTo>
                  <a:lnTo>
                    <a:pt x="248666" y="147409"/>
                  </a:lnTo>
                  <a:lnTo>
                    <a:pt x="206549" y="149208"/>
                  </a:lnTo>
                  <a:lnTo>
                    <a:pt x="192106" y="149342"/>
                  </a:lnTo>
                  <a:lnTo>
                    <a:pt x="174540" y="148405"/>
                  </a:lnTo>
                  <a:lnTo>
                    <a:pt x="122362" y="143414"/>
                  </a:lnTo>
                  <a:lnTo>
                    <a:pt x="90354" y="137011"/>
                  </a:lnTo>
                  <a:lnTo>
                    <a:pt x="80356" y="134631"/>
                  </a:lnTo>
                </a:path>
                <a:path w="400684" h="468630">
                  <a:moveTo>
                    <a:pt x="400058" y="304717"/>
                  </a:moveTo>
                  <a:lnTo>
                    <a:pt x="380567" y="320740"/>
                  </a:lnTo>
                  <a:lnTo>
                    <a:pt x="359152" y="333856"/>
                  </a:lnTo>
                  <a:lnTo>
                    <a:pt x="336135" y="343900"/>
                  </a:lnTo>
                  <a:lnTo>
                    <a:pt x="311839" y="350703"/>
                  </a:lnTo>
                </a:path>
                <a:path w="400684" h="468630">
                  <a:moveTo>
                    <a:pt x="1219" y="305194"/>
                  </a:moveTo>
                  <a:lnTo>
                    <a:pt x="0" y="197701"/>
                  </a:lnTo>
                </a:path>
                <a:path w="400684" h="468630">
                  <a:moveTo>
                    <a:pt x="400348" y="197921"/>
                  </a:moveTo>
                  <a:lnTo>
                    <a:pt x="382667" y="212971"/>
                  </a:lnTo>
                  <a:lnTo>
                    <a:pt x="363173" y="225401"/>
                  </a:lnTo>
                  <a:lnTo>
                    <a:pt x="342162" y="235054"/>
                  </a:lnTo>
                  <a:lnTo>
                    <a:pt x="319925" y="241775"/>
                  </a:lnTo>
                </a:path>
                <a:path w="400684" h="468630">
                  <a:moveTo>
                    <a:pt x="399767" y="91533"/>
                  </a:moveTo>
                  <a:lnTo>
                    <a:pt x="385670" y="103871"/>
                  </a:lnTo>
                  <a:lnTo>
                    <a:pt x="370256" y="114410"/>
                  </a:lnTo>
                  <a:lnTo>
                    <a:pt x="353700" y="123044"/>
                  </a:lnTo>
                  <a:lnTo>
                    <a:pt x="336179" y="129670"/>
                  </a:lnTo>
                </a:path>
                <a:path w="400684" h="468630">
                  <a:moveTo>
                    <a:pt x="759" y="198394"/>
                  </a:moveTo>
                  <a:lnTo>
                    <a:pt x="20" y="91279"/>
                  </a:lnTo>
                </a:path>
                <a:path w="400684" h="468630">
                  <a:moveTo>
                    <a:pt x="311906" y="351014"/>
                  </a:moveTo>
                  <a:lnTo>
                    <a:pt x="256105" y="360535"/>
                  </a:lnTo>
                  <a:lnTo>
                    <a:pt x="210624" y="363678"/>
                  </a:lnTo>
                  <a:lnTo>
                    <a:pt x="168724" y="362101"/>
                  </a:lnTo>
                  <a:lnTo>
                    <a:pt x="123665" y="357465"/>
                  </a:lnTo>
                </a:path>
                <a:path w="400684" h="468630">
                  <a:moveTo>
                    <a:pt x="110737" y="7799"/>
                  </a:moveTo>
                  <a:lnTo>
                    <a:pt x="159741" y="1768"/>
                  </a:lnTo>
                  <a:lnTo>
                    <a:pt x="208481" y="0"/>
                  </a:lnTo>
                  <a:lnTo>
                    <a:pt x="258050" y="3085"/>
                  </a:lnTo>
                  <a:lnTo>
                    <a:pt x="309544" y="11615"/>
                  </a:lnTo>
                </a:path>
                <a:path w="400684" h="468630">
                  <a:moveTo>
                    <a:pt x="400472" y="125389"/>
                  </a:moveTo>
                  <a:lnTo>
                    <a:pt x="400473" y="386903"/>
                  </a:lnTo>
                </a:path>
                <a:path w="400684" h="468630">
                  <a:moveTo>
                    <a:pt x="273161" y="463573"/>
                  </a:moveTo>
                  <a:lnTo>
                    <a:pt x="239376" y="466913"/>
                  </a:lnTo>
                  <a:lnTo>
                    <a:pt x="205614" y="468257"/>
                  </a:lnTo>
                  <a:lnTo>
                    <a:pt x="171854" y="467551"/>
                  </a:lnTo>
                  <a:lnTo>
                    <a:pt x="138074" y="464738"/>
                  </a:lnTo>
                </a:path>
                <a:path w="400684" h="468630">
                  <a:moveTo>
                    <a:pt x="60235" y="235457"/>
                  </a:moveTo>
                  <a:lnTo>
                    <a:pt x="43722" y="229015"/>
                  </a:lnTo>
                  <a:lnTo>
                    <a:pt x="28180" y="220632"/>
                  </a:lnTo>
                  <a:lnTo>
                    <a:pt x="13780" y="210412"/>
                  </a:lnTo>
                  <a:lnTo>
                    <a:pt x="692" y="198460"/>
                  </a:lnTo>
                </a:path>
                <a:path w="400684" h="468630">
                  <a:moveTo>
                    <a:pt x="228" y="392026"/>
                  </a:moveTo>
                  <a:lnTo>
                    <a:pt x="74" y="304223"/>
                  </a:lnTo>
                </a:path>
                <a:path w="400684" h="468630">
                  <a:moveTo>
                    <a:pt x="80431" y="134304"/>
                  </a:moveTo>
                  <a:lnTo>
                    <a:pt x="59026" y="128097"/>
                  </a:lnTo>
                  <a:lnTo>
                    <a:pt x="38706" y="119182"/>
                  </a:lnTo>
                  <a:lnTo>
                    <a:pt x="19724" y="107689"/>
                  </a:lnTo>
                  <a:lnTo>
                    <a:pt x="2335" y="93752"/>
                  </a:lnTo>
                </a:path>
              </a:pathLst>
            </a:custGeom>
            <a:ln w="20733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18069" y="3422141"/>
            <a:ext cx="5981700" cy="1045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80" dirty="0">
                <a:solidFill>
                  <a:srgbClr val="272424"/>
                </a:solidFill>
                <a:latin typeface="Tahoma"/>
                <a:cs typeface="Tahoma"/>
              </a:rPr>
              <a:t>Fragmented</a:t>
            </a:r>
            <a:r>
              <a:rPr sz="200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105" dirty="0">
                <a:solidFill>
                  <a:srgbClr val="272424"/>
                </a:solidFill>
                <a:latin typeface="Tahoma"/>
                <a:cs typeface="Tahoma"/>
              </a:rPr>
              <a:t>Data</a:t>
            </a:r>
            <a:r>
              <a:rPr sz="200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72424"/>
                </a:solidFill>
                <a:latin typeface="Tahoma"/>
                <a:cs typeface="Tahoma"/>
              </a:rPr>
              <a:t>Sources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data,</a:t>
            </a:r>
            <a:r>
              <a:rPr sz="16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payment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behavior,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external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sz="160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like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litigation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exist</a:t>
            </a:r>
            <a:r>
              <a:rPr sz="1600" spc="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600" spc="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isolation,</a:t>
            </a:r>
            <a:r>
              <a:rPr sz="160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preventing</a:t>
            </a:r>
            <a:r>
              <a:rPr sz="160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holistic</a:t>
            </a:r>
            <a:r>
              <a:rPr sz="1600" spc="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272424"/>
                </a:solidFill>
                <a:latin typeface="Tahoma"/>
                <a:cs typeface="Tahoma"/>
              </a:rPr>
              <a:t>assessment.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4347" y="4899867"/>
            <a:ext cx="489584" cy="447040"/>
            <a:chOff x="804347" y="4899867"/>
            <a:chExt cx="489584" cy="447040"/>
          </a:xfrm>
        </p:grpSpPr>
        <p:sp>
          <p:nvSpPr>
            <p:cNvPr id="16" name="object 16"/>
            <p:cNvSpPr/>
            <p:nvPr/>
          </p:nvSpPr>
          <p:spPr>
            <a:xfrm>
              <a:off x="1028029" y="5027650"/>
              <a:ext cx="27305" cy="167640"/>
            </a:xfrm>
            <a:custGeom>
              <a:avLst/>
              <a:gdLst/>
              <a:ahLst/>
              <a:cxnLst/>
              <a:rect l="l" t="t" r="r" b="b"/>
              <a:pathLst>
                <a:path w="27305" h="167639">
                  <a:moveTo>
                    <a:pt x="27099" y="165637"/>
                  </a:moveTo>
                  <a:lnTo>
                    <a:pt x="21843" y="167172"/>
                  </a:lnTo>
                  <a:lnTo>
                    <a:pt x="17557" y="166695"/>
                  </a:lnTo>
                  <a:lnTo>
                    <a:pt x="15449" y="165787"/>
                  </a:lnTo>
                  <a:lnTo>
                    <a:pt x="5799" y="114246"/>
                  </a:lnTo>
                  <a:lnTo>
                    <a:pt x="3406" y="74978"/>
                  </a:lnTo>
                  <a:lnTo>
                    <a:pt x="1470" y="37277"/>
                  </a:lnTo>
                  <a:lnTo>
                    <a:pt x="0" y="0"/>
                  </a:lnTo>
                </a:path>
              </a:pathLst>
            </a:custGeom>
            <a:ln w="20751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347" y="5228657"/>
              <a:ext cx="71511" cy="1176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532" y="4899867"/>
              <a:ext cx="109417" cy="703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39108" y="4935590"/>
              <a:ext cx="444500" cy="400685"/>
            </a:xfrm>
            <a:custGeom>
              <a:avLst/>
              <a:gdLst/>
              <a:ahLst/>
              <a:cxnLst/>
              <a:rect l="l" t="t" r="r" b="b"/>
              <a:pathLst>
                <a:path w="444500" h="400685">
                  <a:moveTo>
                    <a:pt x="188920" y="92059"/>
                  </a:moveTo>
                  <a:lnTo>
                    <a:pt x="208353" y="66749"/>
                  </a:lnTo>
                  <a:lnTo>
                    <a:pt x="213340" y="67214"/>
                  </a:lnTo>
                  <a:lnTo>
                    <a:pt x="231471" y="95530"/>
                  </a:lnTo>
                  <a:lnTo>
                    <a:pt x="231285" y="103887"/>
                  </a:lnTo>
                  <a:lnTo>
                    <a:pt x="230889" y="114320"/>
                  </a:lnTo>
                </a:path>
                <a:path w="444500" h="400685">
                  <a:moveTo>
                    <a:pt x="436430" y="382999"/>
                  </a:moveTo>
                  <a:lnTo>
                    <a:pt x="427280" y="391356"/>
                  </a:lnTo>
                  <a:lnTo>
                    <a:pt x="416505" y="397083"/>
                  </a:lnTo>
                  <a:lnTo>
                    <a:pt x="404657" y="399972"/>
                  </a:lnTo>
                  <a:lnTo>
                    <a:pt x="392287" y="399813"/>
                  </a:lnTo>
                </a:path>
                <a:path w="444500" h="400685">
                  <a:moveTo>
                    <a:pt x="216020" y="257697"/>
                  </a:moveTo>
                  <a:lnTo>
                    <a:pt x="219301" y="256258"/>
                  </a:lnTo>
                </a:path>
                <a:path w="444500" h="400685">
                  <a:moveTo>
                    <a:pt x="236490" y="323667"/>
                  </a:moveTo>
                  <a:lnTo>
                    <a:pt x="234398" y="334027"/>
                  </a:lnTo>
                  <a:lnTo>
                    <a:pt x="228693" y="342487"/>
                  </a:lnTo>
                  <a:lnTo>
                    <a:pt x="220232" y="348192"/>
                  </a:lnTo>
                  <a:lnTo>
                    <a:pt x="209871" y="350284"/>
                  </a:lnTo>
                  <a:lnTo>
                    <a:pt x="199511" y="348192"/>
                  </a:lnTo>
                  <a:lnTo>
                    <a:pt x="191050" y="342487"/>
                  </a:lnTo>
                  <a:lnTo>
                    <a:pt x="185345" y="334027"/>
                  </a:lnTo>
                  <a:lnTo>
                    <a:pt x="183253" y="323667"/>
                  </a:lnTo>
                  <a:lnTo>
                    <a:pt x="185345" y="313307"/>
                  </a:lnTo>
                  <a:lnTo>
                    <a:pt x="191050" y="304847"/>
                  </a:lnTo>
                  <a:lnTo>
                    <a:pt x="199511" y="299142"/>
                  </a:lnTo>
                  <a:lnTo>
                    <a:pt x="209871" y="297050"/>
                  </a:lnTo>
                  <a:lnTo>
                    <a:pt x="220232" y="299142"/>
                  </a:lnTo>
                  <a:lnTo>
                    <a:pt x="228693" y="304847"/>
                  </a:lnTo>
                  <a:lnTo>
                    <a:pt x="234398" y="313307"/>
                  </a:lnTo>
                  <a:lnTo>
                    <a:pt x="236490" y="323667"/>
                  </a:lnTo>
                  <a:close/>
                </a:path>
                <a:path w="444500" h="400685">
                  <a:moveTo>
                    <a:pt x="392204" y="400220"/>
                  </a:moveTo>
                  <a:lnTo>
                    <a:pt x="26373" y="400336"/>
                  </a:lnTo>
                </a:path>
                <a:path w="444500" h="400685">
                  <a:moveTo>
                    <a:pt x="0" y="303443"/>
                  </a:moveTo>
                  <a:lnTo>
                    <a:pt x="172798" y="0"/>
                  </a:lnTo>
                </a:path>
                <a:path w="444500" h="400685">
                  <a:moveTo>
                    <a:pt x="261465" y="24227"/>
                  </a:moveTo>
                  <a:lnTo>
                    <a:pt x="436596" y="332839"/>
                  </a:lnTo>
                </a:path>
                <a:path w="444500" h="400685">
                  <a:moveTo>
                    <a:pt x="436347" y="333030"/>
                  </a:moveTo>
                  <a:lnTo>
                    <a:pt x="442124" y="345066"/>
                  </a:lnTo>
                  <a:lnTo>
                    <a:pt x="444079" y="357997"/>
                  </a:lnTo>
                  <a:lnTo>
                    <a:pt x="442198" y="370937"/>
                  </a:lnTo>
                  <a:lnTo>
                    <a:pt x="436471" y="383003"/>
                  </a:lnTo>
                </a:path>
                <a:path w="444500" h="400685">
                  <a:moveTo>
                    <a:pt x="230889" y="114320"/>
                  </a:moveTo>
                  <a:lnTo>
                    <a:pt x="219301" y="256258"/>
                  </a:lnTo>
                </a:path>
              </a:pathLst>
            </a:custGeom>
            <a:ln w="20751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81304" y="5579490"/>
            <a:ext cx="6372860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65" dirty="0">
                <a:solidFill>
                  <a:srgbClr val="272424"/>
                </a:solidFill>
                <a:latin typeface="Tahoma"/>
                <a:cs typeface="Tahoma"/>
              </a:rPr>
              <a:t>Reactive</a:t>
            </a:r>
            <a:r>
              <a:rPr sz="200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sz="2000" b="1" spc="-10" dirty="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25099"/>
              </a:lnSpc>
              <a:spcBef>
                <a:spcPts val="825"/>
              </a:spcBef>
            </a:pP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6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80" dirty="0">
                <a:solidFill>
                  <a:srgbClr val="272424"/>
                </a:solidFill>
                <a:latin typeface="Tahoma"/>
                <a:cs typeface="Tahoma"/>
              </a:rPr>
              <a:t>decisions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are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made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after</a:t>
            </a:r>
            <a:r>
              <a:rPr sz="16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issues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arise</a:t>
            </a:r>
            <a:r>
              <a:rPr sz="16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rather</a:t>
            </a:r>
            <a:r>
              <a:rPr sz="16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than</a:t>
            </a:r>
            <a:r>
              <a:rPr sz="16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272424"/>
                </a:solidFill>
                <a:latin typeface="Tahoma"/>
                <a:cs typeface="Tahoma"/>
              </a:rPr>
              <a:t>predicting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preventing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them</a:t>
            </a:r>
            <a:r>
              <a:rPr sz="16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sz="16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real</a:t>
            </a:r>
            <a:r>
              <a:rPr sz="16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72424"/>
                </a:solidFill>
                <a:latin typeface="Tahoma"/>
                <a:cs typeface="Tahoma"/>
              </a:rPr>
              <a:t>time.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41552" y="4887502"/>
            <a:ext cx="141605" cy="337185"/>
            <a:chOff x="7441552" y="4887502"/>
            <a:chExt cx="141605" cy="337185"/>
          </a:xfrm>
        </p:grpSpPr>
        <p:sp>
          <p:nvSpPr>
            <p:cNvPr id="22" name="object 22"/>
            <p:cNvSpPr/>
            <p:nvPr/>
          </p:nvSpPr>
          <p:spPr>
            <a:xfrm>
              <a:off x="7473332" y="4897880"/>
              <a:ext cx="99695" cy="262890"/>
            </a:xfrm>
            <a:custGeom>
              <a:avLst/>
              <a:gdLst/>
              <a:ahLst/>
              <a:cxnLst/>
              <a:rect l="l" t="t" r="r" b="b"/>
              <a:pathLst>
                <a:path w="99695" h="262889">
                  <a:moveTo>
                    <a:pt x="37562" y="0"/>
                  </a:moveTo>
                  <a:lnTo>
                    <a:pt x="26607" y="13096"/>
                  </a:lnTo>
                  <a:lnTo>
                    <a:pt x="16668" y="26955"/>
                  </a:lnTo>
                  <a:lnTo>
                    <a:pt x="7786" y="41513"/>
                  </a:lnTo>
                  <a:lnTo>
                    <a:pt x="0" y="56710"/>
                  </a:lnTo>
                </a:path>
                <a:path w="99695" h="262889">
                  <a:moveTo>
                    <a:pt x="96711" y="56170"/>
                  </a:moveTo>
                  <a:lnTo>
                    <a:pt x="70900" y="94620"/>
                  </a:lnTo>
                  <a:lnTo>
                    <a:pt x="58267" y="137614"/>
                  </a:lnTo>
                  <a:lnTo>
                    <a:pt x="58777" y="182024"/>
                  </a:lnTo>
                  <a:lnTo>
                    <a:pt x="72394" y="224720"/>
                  </a:lnTo>
                  <a:lnTo>
                    <a:pt x="99080" y="262572"/>
                  </a:lnTo>
                </a:path>
              </a:pathLst>
            </a:custGeom>
            <a:ln w="20754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41552" y="4944212"/>
              <a:ext cx="81968" cy="280286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7796859" y="4897216"/>
            <a:ext cx="121920" cy="317500"/>
          </a:xfrm>
          <a:custGeom>
            <a:avLst/>
            <a:gdLst/>
            <a:ahLst/>
            <a:cxnLst/>
            <a:rect l="l" t="t" r="r" b="b"/>
            <a:pathLst>
              <a:path w="121920" h="317500">
                <a:moveTo>
                  <a:pt x="60716" y="317390"/>
                </a:moveTo>
                <a:lnTo>
                  <a:pt x="94411" y="270401"/>
                </a:lnTo>
                <a:lnTo>
                  <a:pt x="113680" y="224622"/>
                </a:lnTo>
                <a:lnTo>
                  <a:pt x="121724" y="179484"/>
                </a:lnTo>
                <a:lnTo>
                  <a:pt x="121744" y="134420"/>
                </a:lnTo>
              </a:path>
              <a:path w="121920" h="317500">
                <a:moveTo>
                  <a:pt x="0" y="263464"/>
                </a:moveTo>
                <a:lnTo>
                  <a:pt x="27283" y="225187"/>
                </a:lnTo>
                <a:lnTo>
                  <a:pt x="41087" y="181898"/>
                </a:lnTo>
                <a:lnTo>
                  <a:pt x="41391" y="136878"/>
                </a:lnTo>
                <a:lnTo>
                  <a:pt x="28171" y="93405"/>
                </a:lnTo>
                <a:lnTo>
                  <a:pt x="1406" y="54760"/>
                </a:lnTo>
              </a:path>
              <a:path w="121920" h="317500">
                <a:moveTo>
                  <a:pt x="121868" y="134407"/>
                </a:moveTo>
                <a:lnTo>
                  <a:pt x="114914" y="97512"/>
                </a:lnTo>
                <a:lnTo>
                  <a:pt x="102328" y="62389"/>
                </a:lnTo>
                <a:lnTo>
                  <a:pt x="84390" y="29673"/>
                </a:lnTo>
                <a:lnTo>
                  <a:pt x="61380" y="0"/>
                </a:lnTo>
              </a:path>
            </a:pathLst>
          </a:custGeom>
          <a:ln w="20754">
            <a:solidFill>
              <a:srgbClr val="4850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85154" y="5019589"/>
            <a:ext cx="635" cy="329565"/>
          </a:xfrm>
          <a:custGeom>
            <a:avLst/>
            <a:gdLst/>
            <a:ahLst/>
            <a:cxnLst/>
            <a:rect l="l" t="t" r="r" b="b"/>
            <a:pathLst>
              <a:path w="634" h="329564">
                <a:moveTo>
                  <a:pt x="0" y="329472"/>
                </a:moveTo>
                <a:lnTo>
                  <a:pt x="20" y="0"/>
                </a:lnTo>
              </a:path>
            </a:pathLst>
          </a:custGeom>
          <a:ln w="20755">
            <a:solidFill>
              <a:srgbClr val="4850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418069" y="5579490"/>
            <a:ext cx="5962015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272424"/>
                </a:solidFill>
                <a:latin typeface="Tahoma"/>
                <a:cs typeface="Tahoma"/>
              </a:rPr>
              <a:t>Lack</a:t>
            </a:r>
            <a:r>
              <a:rPr sz="2000" b="1" spc="-10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2000" b="1" spc="-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272424"/>
                </a:solidFill>
                <a:latin typeface="Tahoma"/>
                <a:cs typeface="Tahoma"/>
              </a:rPr>
              <a:t>Real-Time</a:t>
            </a:r>
            <a:r>
              <a:rPr sz="2000" b="1" spc="-8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272424"/>
                </a:solidFill>
                <a:latin typeface="Tahoma"/>
                <a:cs typeface="Tahoma"/>
              </a:rPr>
              <a:t>Intelligence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25099"/>
              </a:lnSpc>
              <a:spcBef>
                <a:spcPts val="825"/>
              </a:spcBef>
            </a:pP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Existing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85" dirty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sz="16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fail</a:t>
            </a:r>
            <a:r>
              <a:rPr sz="16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6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100" dirty="0">
                <a:solidFill>
                  <a:srgbClr val="272424"/>
                </a:solidFill>
                <a:latin typeface="Tahoma"/>
                <a:cs typeface="Tahoma"/>
              </a:rPr>
              <a:t>process</a:t>
            </a:r>
            <a:r>
              <a:rPr sz="16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sz="16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272424"/>
                </a:solidFill>
                <a:latin typeface="Tahoma"/>
                <a:cs typeface="Tahoma"/>
              </a:rPr>
              <a:t>streams</a:t>
            </a:r>
            <a:r>
              <a:rPr sz="1600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6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272424"/>
                </a:solidFill>
                <a:latin typeface="Tahoma"/>
                <a:cs typeface="Tahoma"/>
              </a:rPr>
              <a:t>events </a:t>
            </a:r>
            <a:r>
              <a:rPr sz="1600" spc="90" dirty="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sz="16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90" dirty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sz="16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payments,</a:t>
            </a:r>
            <a:r>
              <a:rPr sz="16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invoices,</a:t>
            </a:r>
            <a:r>
              <a:rPr sz="1600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0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sz="1600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00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272424"/>
                </a:solidFill>
                <a:latin typeface="Tahoma"/>
                <a:cs typeface="Tahoma"/>
              </a:rPr>
              <a:t>signals.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4147" y="7241829"/>
            <a:ext cx="8691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Current</a:t>
            </a:r>
            <a:r>
              <a:rPr sz="160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272424"/>
                </a:solidFill>
                <a:latin typeface="Tahoma"/>
                <a:cs typeface="Tahoma"/>
              </a:rPr>
              <a:t>systems</a:t>
            </a: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 are</a:t>
            </a:r>
            <a:r>
              <a:rPr sz="160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272424"/>
                </a:solidFill>
                <a:latin typeface="Tahoma"/>
                <a:cs typeface="Tahoma"/>
              </a:rPr>
              <a:t>reactive,</a:t>
            </a: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55" dirty="0">
                <a:solidFill>
                  <a:srgbClr val="272424"/>
                </a:solidFill>
                <a:latin typeface="Tahoma"/>
                <a:cs typeface="Tahoma"/>
              </a:rPr>
              <a:t>slow,</a:t>
            </a:r>
            <a:r>
              <a:rPr sz="1600" b="1" spc="-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600" b="1" spc="-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30" dirty="0">
                <a:solidFill>
                  <a:srgbClr val="272424"/>
                </a:solidFill>
                <a:latin typeface="Tahoma"/>
                <a:cs typeface="Tahoma"/>
              </a:rPr>
              <a:t>disconnected</a:t>
            </a:r>
            <a:r>
              <a:rPr sz="1600" b="1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145" dirty="0">
                <a:solidFill>
                  <a:srgbClr val="272424"/>
                </a:solidFill>
                <a:latin typeface="Tahoma"/>
                <a:cs typeface="Tahoma"/>
              </a:rPr>
              <a:t>—</a:t>
            </a:r>
            <a:r>
              <a:rPr sz="160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creating</a:t>
            </a:r>
            <a:r>
              <a:rPr sz="160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272424"/>
                </a:solidFill>
                <a:latin typeface="Tahoma"/>
                <a:cs typeface="Tahoma"/>
              </a:rPr>
              <a:t>significant</a:t>
            </a:r>
            <a:r>
              <a:rPr sz="1600" b="1" spc="-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65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60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272424"/>
                </a:solidFill>
                <a:latin typeface="Tahoma"/>
                <a:cs typeface="Tahoma"/>
              </a:rPr>
              <a:t>risk.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10612" y="7020608"/>
            <a:ext cx="22860" cy="723900"/>
          </a:xfrm>
          <a:custGeom>
            <a:avLst/>
            <a:gdLst/>
            <a:ahLst/>
            <a:cxnLst/>
            <a:rect l="l" t="t" r="r" b="b"/>
            <a:pathLst>
              <a:path w="22859" h="723900">
                <a:moveTo>
                  <a:pt x="22859" y="0"/>
                </a:moveTo>
                <a:lnTo>
                  <a:pt x="0" y="0"/>
                </a:lnTo>
                <a:lnTo>
                  <a:pt x="0" y="723658"/>
                </a:lnTo>
                <a:lnTo>
                  <a:pt x="22859" y="723658"/>
                </a:lnTo>
                <a:lnTo>
                  <a:pt x="22859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442" y="1437223"/>
            <a:ext cx="425612" cy="425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304" y="2029205"/>
            <a:ext cx="580326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Develop</a:t>
            </a:r>
            <a:r>
              <a:rPr sz="1750" b="1" spc="-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60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45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750" b="1" spc="-7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Monitoring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65"/>
              </a:spcBef>
            </a:pP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Continuously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track</a:t>
            </a:r>
            <a:r>
              <a:rPr sz="14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customer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activities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85" dirty="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80" dirty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invoices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and </a:t>
            </a:r>
            <a:r>
              <a:rPr sz="1400" spc="35" dirty="0">
                <a:solidFill>
                  <a:srgbClr val="272424"/>
                </a:solidFill>
                <a:latin typeface="Tahoma"/>
                <a:cs typeface="Tahoma"/>
              </a:rPr>
              <a:t>payments.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43821" y="1428142"/>
            <a:ext cx="378460" cy="434975"/>
            <a:chOff x="7443821" y="1428142"/>
            <a:chExt cx="378460" cy="434975"/>
          </a:xfrm>
        </p:grpSpPr>
        <p:sp>
          <p:nvSpPr>
            <p:cNvPr id="6" name="object 6"/>
            <p:cNvSpPr/>
            <p:nvPr/>
          </p:nvSpPr>
          <p:spPr>
            <a:xfrm>
              <a:off x="7453050" y="1437371"/>
              <a:ext cx="191135" cy="304800"/>
            </a:xfrm>
            <a:custGeom>
              <a:avLst/>
              <a:gdLst/>
              <a:ahLst/>
              <a:cxnLst/>
              <a:rect l="l" t="t" r="r" b="b"/>
              <a:pathLst>
                <a:path w="191134" h="304800">
                  <a:moveTo>
                    <a:pt x="190309" y="0"/>
                  </a:moveTo>
                  <a:lnTo>
                    <a:pt x="6" y="221"/>
                  </a:lnTo>
                </a:path>
                <a:path w="191134" h="304800">
                  <a:moveTo>
                    <a:pt x="190645" y="304776"/>
                  </a:moveTo>
                  <a:lnTo>
                    <a:pt x="190309" y="0"/>
                  </a:lnTo>
                </a:path>
                <a:path w="191134" h="304800">
                  <a:moveTo>
                    <a:pt x="190645" y="304776"/>
                  </a:moveTo>
                  <a:lnTo>
                    <a:pt x="0" y="304496"/>
                  </a:lnTo>
                </a:path>
                <a:path w="191134" h="304800">
                  <a:moveTo>
                    <a:pt x="0" y="304496"/>
                  </a:moveTo>
                  <a:lnTo>
                    <a:pt x="6" y="221"/>
                  </a:lnTo>
                </a:path>
              </a:pathLst>
            </a:custGeom>
            <a:ln w="1845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6371" y="1553829"/>
              <a:ext cx="305369" cy="3090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93940" y="2029205"/>
            <a:ext cx="634047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130" dirty="0">
                <a:solidFill>
                  <a:srgbClr val="272424"/>
                </a:solidFill>
                <a:latin typeface="Tahoma"/>
                <a:cs typeface="Tahoma"/>
              </a:rPr>
              <a:t>Implement</a:t>
            </a:r>
            <a:r>
              <a:rPr sz="1750" b="1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Event-</a:t>
            </a:r>
            <a:r>
              <a:rPr sz="1750" b="1" spc="-70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750" b="1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Architecture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65"/>
              </a:spcBef>
            </a:pP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Enable</a:t>
            </a:r>
            <a:r>
              <a:rPr sz="14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dynamic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72424"/>
                </a:solidFill>
                <a:latin typeface="Tahoma"/>
                <a:cs typeface="Tahoma"/>
              </a:rPr>
              <a:t>processing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4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events</a:t>
            </a:r>
            <a:r>
              <a:rPr sz="14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using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independent,</a:t>
            </a:r>
            <a:r>
              <a:rPr sz="14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scalable </a:t>
            </a:r>
            <a:r>
              <a:rPr sz="1400" spc="35" dirty="0">
                <a:solidFill>
                  <a:srgbClr val="272424"/>
                </a:solidFill>
                <a:latin typeface="Tahoma"/>
                <a:cs typeface="Tahoma"/>
              </a:rPr>
              <a:t>agents.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2983" y="3246646"/>
            <a:ext cx="435609" cy="434975"/>
            <a:chOff x="802983" y="3246646"/>
            <a:chExt cx="435609" cy="434975"/>
          </a:xfrm>
        </p:grpSpPr>
        <p:sp>
          <p:nvSpPr>
            <p:cNvPr id="10" name="object 10"/>
            <p:cNvSpPr/>
            <p:nvPr/>
          </p:nvSpPr>
          <p:spPr>
            <a:xfrm>
              <a:off x="845268" y="3301780"/>
              <a:ext cx="384175" cy="370205"/>
            </a:xfrm>
            <a:custGeom>
              <a:avLst/>
              <a:gdLst/>
              <a:ahLst/>
              <a:cxnLst/>
              <a:rect l="l" t="t" r="r" b="b"/>
              <a:pathLst>
                <a:path w="384175" h="370204">
                  <a:moveTo>
                    <a:pt x="194226" y="359055"/>
                  </a:moveTo>
                  <a:lnTo>
                    <a:pt x="193279" y="356335"/>
                  </a:lnTo>
                  <a:lnTo>
                    <a:pt x="192759" y="353339"/>
                  </a:lnTo>
                  <a:lnTo>
                    <a:pt x="192755" y="339209"/>
                  </a:lnTo>
                </a:path>
                <a:path w="384175" h="370204">
                  <a:moveTo>
                    <a:pt x="192818" y="179358"/>
                  </a:moveTo>
                  <a:lnTo>
                    <a:pt x="206533" y="163044"/>
                  </a:lnTo>
                  <a:lnTo>
                    <a:pt x="208949" y="162472"/>
                  </a:lnTo>
                </a:path>
                <a:path w="384175" h="370204">
                  <a:moveTo>
                    <a:pt x="364817" y="162214"/>
                  </a:moveTo>
                  <a:lnTo>
                    <a:pt x="383368" y="176784"/>
                  </a:lnTo>
                  <a:lnTo>
                    <a:pt x="383699" y="178787"/>
                  </a:lnTo>
                </a:path>
                <a:path w="384175" h="370204">
                  <a:moveTo>
                    <a:pt x="383700" y="353204"/>
                  </a:moveTo>
                  <a:lnTo>
                    <a:pt x="367583" y="369749"/>
                  </a:lnTo>
                  <a:lnTo>
                    <a:pt x="365075" y="370134"/>
                  </a:lnTo>
                </a:path>
                <a:path w="384175" h="370204">
                  <a:moveTo>
                    <a:pt x="210774" y="370199"/>
                  </a:moveTo>
                  <a:lnTo>
                    <a:pt x="194592" y="359933"/>
                  </a:lnTo>
                  <a:lnTo>
                    <a:pt x="194226" y="359055"/>
                  </a:lnTo>
                </a:path>
                <a:path w="384175" h="370204">
                  <a:moveTo>
                    <a:pt x="43104" y="48885"/>
                  </a:moveTo>
                  <a:lnTo>
                    <a:pt x="7139" y="65424"/>
                  </a:lnTo>
                  <a:lnTo>
                    <a:pt x="2293" y="78387"/>
                  </a:lnTo>
                  <a:lnTo>
                    <a:pt x="0" y="93204"/>
                  </a:lnTo>
                </a:path>
                <a:path w="384175" h="370204">
                  <a:moveTo>
                    <a:pt x="341952" y="29955"/>
                  </a:moveTo>
                  <a:lnTo>
                    <a:pt x="313923" y="0"/>
                  </a:lnTo>
                  <a:lnTo>
                    <a:pt x="300927" y="221"/>
                  </a:lnTo>
                </a:path>
              </a:pathLst>
            </a:custGeom>
            <a:ln w="18295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2710" y="3246646"/>
              <a:ext cx="175012" cy="652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12131" y="3255793"/>
              <a:ext cx="417195" cy="416559"/>
            </a:xfrm>
            <a:custGeom>
              <a:avLst/>
              <a:gdLst/>
              <a:ahLst/>
              <a:cxnLst/>
              <a:rect l="l" t="t" r="r" b="b"/>
              <a:pathLst>
                <a:path w="417194" h="416560">
                  <a:moveTo>
                    <a:pt x="50972" y="368"/>
                  </a:moveTo>
                  <a:lnTo>
                    <a:pt x="28671" y="110"/>
                  </a:lnTo>
                </a:path>
                <a:path w="417194" h="416560">
                  <a:moveTo>
                    <a:pt x="374904" y="94831"/>
                  </a:moveTo>
                  <a:lnTo>
                    <a:pt x="76242" y="94871"/>
                  </a:lnTo>
                </a:path>
                <a:path w="417194" h="416560">
                  <a:moveTo>
                    <a:pt x="199759" y="327725"/>
                  </a:moveTo>
                  <a:lnTo>
                    <a:pt x="28800" y="327098"/>
                  </a:lnTo>
                </a:path>
                <a:path w="417194" h="416560">
                  <a:moveTo>
                    <a:pt x="375236" y="181984"/>
                  </a:moveTo>
                  <a:lnTo>
                    <a:pt x="375089" y="75942"/>
                  </a:lnTo>
                </a:path>
                <a:path w="417194" h="416560">
                  <a:moveTo>
                    <a:pt x="266869" y="299842"/>
                  </a:moveTo>
                  <a:lnTo>
                    <a:pt x="347429" y="299706"/>
                  </a:lnTo>
                </a:path>
                <a:path w="417194" h="416560">
                  <a:moveTo>
                    <a:pt x="266932" y="340754"/>
                  </a:moveTo>
                  <a:lnTo>
                    <a:pt x="308528" y="340725"/>
                  </a:lnTo>
                </a:path>
                <a:path w="417194" h="416560">
                  <a:moveTo>
                    <a:pt x="266478" y="255249"/>
                  </a:moveTo>
                  <a:lnTo>
                    <a:pt x="363066" y="255183"/>
                  </a:lnTo>
                </a:path>
                <a:path w="417194" h="416560">
                  <a:moveTo>
                    <a:pt x="33137" y="139191"/>
                  </a:moveTo>
                  <a:lnTo>
                    <a:pt x="5614" y="307483"/>
                  </a:lnTo>
                </a:path>
                <a:path w="417194" h="416560">
                  <a:moveTo>
                    <a:pt x="225892" y="385196"/>
                  </a:moveTo>
                  <a:lnTo>
                    <a:pt x="225955" y="225345"/>
                  </a:lnTo>
                </a:path>
                <a:path w="417194" h="416560">
                  <a:moveTo>
                    <a:pt x="28792" y="327010"/>
                  </a:moveTo>
                  <a:lnTo>
                    <a:pt x="1942" y="302674"/>
                  </a:lnTo>
                  <a:lnTo>
                    <a:pt x="1962" y="301789"/>
                  </a:lnTo>
                </a:path>
                <a:path w="417194" h="416560">
                  <a:moveTo>
                    <a:pt x="242086" y="208459"/>
                  </a:moveTo>
                  <a:lnTo>
                    <a:pt x="397954" y="208201"/>
                  </a:lnTo>
                </a:path>
                <a:path w="417194" h="416560">
                  <a:moveTo>
                    <a:pt x="28626" y="368"/>
                  </a:moveTo>
                  <a:lnTo>
                    <a:pt x="0" y="24117"/>
                  </a:lnTo>
                  <a:lnTo>
                    <a:pt x="222" y="27805"/>
                  </a:lnTo>
                  <a:lnTo>
                    <a:pt x="1236" y="31309"/>
                  </a:lnTo>
                </a:path>
                <a:path w="417194" h="416560">
                  <a:moveTo>
                    <a:pt x="416837" y="224774"/>
                  </a:moveTo>
                  <a:lnTo>
                    <a:pt x="416837" y="399191"/>
                  </a:lnTo>
                </a:path>
                <a:path w="417194" h="416560">
                  <a:moveTo>
                    <a:pt x="617" y="31456"/>
                  </a:moveTo>
                  <a:lnTo>
                    <a:pt x="1308" y="301774"/>
                  </a:lnTo>
                </a:path>
                <a:path w="417194" h="416560">
                  <a:moveTo>
                    <a:pt x="398212" y="416121"/>
                  </a:moveTo>
                  <a:lnTo>
                    <a:pt x="243911" y="416185"/>
                  </a:lnTo>
                </a:path>
                <a:path w="417194" h="416560">
                  <a:moveTo>
                    <a:pt x="334064" y="46208"/>
                  </a:moveTo>
                  <a:lnTo>
                    <a:pt x="276443" y="46945"/>
                  </a:lnTo>
                </a:path>
                <a:path w="417194" h="416560">
                  <a:moveTo>
                    <a:pt x="119726" y="0"/>
                  </a:moveTo>
                  <a:lnTo>
                    <a:pt x="50972" y="368"/>
                  </a:lnTo>
                </a:path>
              </a:pathLst>
            </a:custGeom>
            <a:ln w="18295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1304" y="3847846"/>
            <a:ext cx="573595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120" dirty="0">
                <a:solidFill>
                  <a:srgbClr val="272424"/>
                </a:solidFill>
                <a:latin typeface="Tahoma"/>
                <a:cs typeface="Tahoma"/>
              </a:rPr>
              <a:t>Integrate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5" dirty="0">
                <a:solidFill>
                  <a:srgbClr val="272424"/>
                </a:solidFill>
                <a:latin typeface="Tahoma"/>
                <a:cs typeface="Tahoma"/>
              </a:rPr>
              <a:t>External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Intelligence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65"/>
              </a:spcBef>
            </a:pP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Incorporate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indicators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7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litigation</a:t>
            </a:r>
            <a:r>
              <a:rPr sz="1400" spc="9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400" spc="9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enhance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risk 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visibility.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24498" y="3255757"/>
            <a:ext cx="416559" cy="416559"/>
          </a:xfrm>
          <a:custGeom>
            <a:avLst/>
            <a:gdLst/>
            <a:ahLst/>
            <a:cxnLst/>
            <a:rect l="l" t="t" r="r" b="b"/>
            <a:pathLst>
              <a:path w="416559" h="416560">
                <a:moveTo>
                  <a:pt x="4556" y="359521"/>
                </a:moveTo>
                <a:lnTo>
                  <a:pt x="1196" y="352658"/>
                </a:lnTo>
                <a:lnTo>
                  <a:pt x="227" y="348771"/>
                </a:lnTo>
                <a:lnTo>
                  <a:pt x="0" y="345083"/>
                </a:lnTo>
                <a:lnTo>
                  <a:pt x="28" y="306482"/>
                </a:lnTo>
                <a:lnTo>
                  <a:pt x="135" y="277326"/>
                </a:lnTo>
                <a:lnTo>
                  <a:pt x="319" y="257615"/>
                </a:lnTo>
                <a:lnTo>
                  <a:pt x="581" y="247350"/>
                </a:lnTo>
              </a:path>
              <a:path w="416559" h="416560">
                <a:moveTo>
                  <a:pt x="233455" y="208352"/>
                </a:moveTo>
                <a:lnTo>
                  <a:pt x="216804" y="189035"/>
                </a:lnTo>
                <a:lnTo>
                  <a:pt x="211980" y="189013"/>
                </a:lnTo>
              </a:path>
              <a:path w="416559" h="416560">
                <a:moveTo>
                  <a:pt x="153182" y="189087"/>
                </a:moveTo>
                <a:lnTo>
                  <a:pt x="149568" y="189636"/>
                </a:lnTo>
                <a:lnTo>
                  <a:pt x="148052" y="190182"/>
                </a:lnTo>
                <a:lnTo>
                  <a:pt x="142627" y="192922"/>
                </a:lnTo>
              </a:path>
              <a:path w="416559" h="416560">
                <a:moveTo>
                  <a:pt x="279772" y="127490"/>
                </a:moveTo>
                <a:lnTo>
                  <a:pt x="298315" y="112591"/>
                </a:lnTo>
                <a:lnTo>
                  <a:pt x="306834" y="112510"/>
                </a:lnTo>
              </a:path>
              <a:path w="416559" h="416560">
                <a:moveTo>
                  <a:pt x="360243" y="112610"/>
                </a:moveTo>
                <a:lnTo>
                  <a:pt x="366365" y="113255"/>
                </a:lnTo>
              </a:path>
              <a:path w="416559" h="416560">
                <a:moveTo>
                  <a:pt x="374811" y="126940"/>
                </a:moveTo>
                <a:lnTo>
                  <a:pt x="374184" y="122858"/>
                </a:lnTo>
                <a:lnTo>
                  <a:pt x="372930" y="119568"/>
                </a:lnTo>
                <a:lnTo>
                  <a:pt x="369832" y="115940"/>
                </a:lnTo>
                <a:lnTo>
                  <a:pt x="366365" y="113255"/>
                </a:lnTo>
              </a:path>
              <a:path w="416559" h="416560">
                <a:moveTo>
                  <a:pt x="19224" y="172539"/>
                </a:moveTo>
                <a:lnTo>
                  <a:pt x="63031" y="163535"/>
                </a:lnTo>
                <a:lnTo>
                  <a:pt x="111777" y="148210"/>
                </a:lnTo>
                <a:lnTo>
                  <a:pt x="155084" y="129487"/>
                </a:lnTo>
                <a:lnTo>
                  <a:pt x="194008" y="107240"/>
                </a:lnTo>
                <a:lnTo>
                  <a:pt x="234749" y="77554"/>
                </a:lnTo>
                <a:lnTo>
                  <a:pt x="272168" y="44963"/>
                </a:lnTo>
                <a:lnTo>
                  <a:pt x="292241" y="25150"/>
                </a:lnTo>
                <a:lnTo>
                  <a:pt x="315626" y="0"/>
                </a:lnTo>
              </a:path>
              <a:path w="416559" h="416560">
                <a:moveTo>
                  <a:pt x="256158" y="224585"/>
                </a:moveTo>
                <a:lnTo>
                  <a:pt x="224835" y="256404"/>
                </a:lnTo>
                <a:lnTo>
                  <a:pt x="210603" y="292130"/>
                </a:lnTo>
                <a:lnTo>
                  <a:pt x="208784" y="307654"/>
                </a:lnTo>
                <a:lnTo>
                  <a:pt x="208845" y="315214"/>
                </a:lnTo>
                <a:lnTo>
                  <a:pt x="217292" y="353225"/>
                </a:lnTo>
                <a:lnTo>
                  <a:pt x="242836" y="389437"/>
                </a:lnTo>
                <a:lnTo>
                  <a:pt x="275785" y="409559"/>
                </a:lnTo>
                <a:lnTo>
                  <a:pt x="313341" y="416243"/>
                </a:lnTo>
                <a:lnTo>
                  <a:pt x="321354" y="416130"/>
                </a:lnTo>
                <a:lnTo>
                  <a:pt x="358080" y="405692"/>
                </a:lnTo>
                <a:lnTo>
                  <a:pt x="388729" y="382658"/>
                </a:lnTo>
                <a:lnTo>
                  <a:pt x="409140" y="349752"/>
                </a:lnTo>
                <a:lnTo>
                  <a:pt x="416559" y="312347"/>
                </a:lnTo>
                <a:lnTo>
                  <a:pt x="416112" y="305149"/>
                </a:lnTo>
                <a:lnTo>
                  <a:pt x="403370" y="261764"/>
                </a:lnTo>
                <a:lnTo>
                  <a:pt x="379163" y="232138"/>
                </a:lnTo>
                <a:lnTo>
                  <a:pt x="339060" y="212115"/>
                </a:lnTo>
                <a:lnTo>
                  <a:pt x="316540" y="208632"/>
                </a:lnTo>
                <a:lnTo>
                  <a:pt x="308926" y="208719"/>
                </a:lnTo>
                <a:lnTo>
                  <a:pt x="265444" y="219356"/>
                </a:lnTo>
                <a:lnTo>
                  <a:pt x="256158" y="224585"/>
                </a:lnTo>
              </a:path>
              <a:path w="416559" h="416560">
                <a:moveTo>
                  <a:pt x="318514" y="310566"/>
                </a:moveTo>
                <a:lnTo>
                  <a:pt x="347649" y="335886"/>
                </a:lnTo>
                <a:lnTo>
                  <a:pt x="347911" y="340894"/>
                </a:lnTo>
                <a:lnTo>
                  <a:pt x="347225" y="345906"/>
                </a:lnTo>
                <a:lnTo>
                  <a:pt x="312639" y="369353"/>
                </a:lnTo>
                <a:lnTo>
                  <a:pt x="304485" y="368265"/>
                </a:lnTo>
                <a:lnTo>
                  <a:pt x="277947" y="345028"/>
                </a:lnTo>
                <a:lnTo>
                  <a:pt x="277135" y="340393"/>
                </a:lnTo>
              </a:path>
              <a:path w="416559" h="416560">
                <a:moveTo>
                  <a:pt x="318514" y="310566"/>
                </a:moveTo>
                <a:lnTo>
                  <a:pt x="281362" y="293827"/>
                </a:lnTo>
                <a:lnTo>
                  <a:pt x="277736" y="280835"/>
                </a:lnTo>
                <a:lnTo>
                  <a:pt x="277928" y="277785"/>
                </a:lnTo>
                <a:lnTo>
                  <a:pt x="306288" y="251823"/>
                </a:lnTo>
                <a:lnTo>
                  <a:pt x="311459" y="251027"/>
                </a:lnTo>
              </a:path>
              <a:path w="416559" h="416560">
                <a:moveTo>
                  <a:pt x="90701" y="244599"/>
                </a:moveTo>
                <a:lnTo>
                  <a:pt x="9543" y="241062"/>
                </a:lnTo>
              </a:path>
              <a:path w="416559" h="416560">
                <a:moveTo>
                  <a:pt x="93983" y="360849"/>
                </a:moveTo>
                <a:lnTo>
                  <a:pt x="90701" y="244599"/>
                </a:lnTo>
              </a:path>
              <a:path w="416559" h="416560">
                <a:moveTo>
                  <a:pt x="4556" y="359521"/>
                </a:moveTo>
                <a:lnTo>
                  <a:pt x="191987" y="360886"/>
                </a:lnTo>
              </a:path>
              <a:path w="416559" h="416560">
                <a:moveTo>
                  <a:pt x="9543" y="241062"/>
                </a:moveTo>
                <a:lnTo>
                  <a:pt x="581" y="247350"/>
                </a:lnTo>
              </a:path>
              <a:path w="416559" h="416560">
                <a:moveTo>
                  <a:pt x="142627" y="192922"/>
                </a:moveTo>
                <a:lnTo>
                  <a:pt x="139862" y="360860"/>
                </a:lnTo>
              </a:path>
              <a:path w="416559" h="416560">
                <a:moveTo>
                  <a:pt x="211980" y="189013"/>
                </a:moveTo>
                <a:lnTo>
                  <a:pt x="153182" y="189087"/>
                </a:lnTo>
              </a:path>
              <a:path w="416559" h="416560">
                <a:moveTo>
                  <a:pt x="279705" y="186085"/>
                </a:moveTo>
                <a:lnTo>
                  <a:pt x="279772" y="127490"/>
                </a:lnTo>
              </a:path>
              <a:path w="416559" h="416560">
                <a:moveTo>
                  <a:pt x="306834" y="112510"/>
                </a:moveTo>
                <a:lnTo>
                  <a:pt x="360243" y="112610"/>
                </a:lnTo>
              </a:path>
              <a:path w="416559" h="416560">
                <a:moveTo>
                  <a:pt x="374885" y="198078"/>
                </a:moveTo>
                <a:lnTo>
                  <a:pt x="374811" y="126940"/>
                </a:lnTo>
              </a:path>
              <a:path w="416559" h="416560">
                <a:moveTo>
                  <a:pt x="255118" y="1475"/>
                </a:moveTo>
                <a:lnTo>
                  <a:pt x="315626" y="0"/>
                </a:lnTo>
              </a:path>
              <a:path w="416559" h="416560">
                <a:moveTo>
                  <a:pt x="315626" y="0"/>
                </a:moveTo>
                <a:lnTo>
                  <a:pt x="315663" y="21905"/>
                </a:lnTo>
              </a:path>
              <a:path w="416559" h="416560">
                <a:moveTo>
                  <a:pt x="315663" y="21905"/>
                </a:moveTo>
                <a:lnTo>
                  <a:pt x="315729" y="60516"/>
                </a:lnTo>
              </a:path>
              <a:path w="416559" h="416560">
                <a:moveTo>
                  <a:pt x="312481" y="314740"/>
                </a:moveTo>
                <a:lnTo>
                  <a:pt x="312433" y="379996"/>
                </a:lnTo>
              </a:path>
              <a:path w="416559" h="416560">
                <a:moveTo>
                  <a:pt x="312481" y="314740"/>
                </a:moveTo>
                <a:lnTo>
                  <a:pt x="312274" y="246362"/>
                </a:lnTo>
              </a:path>
              <a:path w="416559" h="416560">
                <a:moveTo>
                  <a:pt x="312274" y="246362"/>
                </a:moveTo>
                <a:lnTo>
                  <a:pt x="312392" y="240981"/>
                </a:lnTo>
              </a:path>
              <a:path w="416559" h="416560">
                <a:moveTo>
                  <a:pt x="312355" y="251720"/>
                </a:moveTo>
                <a:lnTo>
                  <a:pt x="324214" y="252711"/>
                </a:lnTo>
                <a:lnTo>
                  <a:pt x="334564" y="257785"/>
                </a:lnTo>
                <a:lnTo>
                  <a:pt x="342425" y="266214"/>
                </a:lnTo>
                <a:lnTo>
                  <a:pt x="346816" y="277273"/>
                </a:lnTo>
              </a:path>
            </a:pathLst>
          </a:custGeom>
          <a:ln w="18306">
            <a:solidFill>
              <a:srgbClr val="4850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93940" y="3847846"/>
            <a:ext cx="5620385" cy="64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65" dirty="0">
                <a:solidFill>
                  <a:srgbClr val="272424"/>
                </a:solidFill>
                <a:latin typeface="Tahoma"/>
                <a:cs typeface="Tahoma"/>
              </a:rPr>
              <a:t>Generate</a:t>
            </a:r>
            <a:r>
              <a:rPr sz="1750" b="1" spc="-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0" dirty="0">
                <a:solidFill>
                  <a:srgbClr val="272424"/>
                </a:solidFill>
                <a:latin typeface="Tahoma"/>
                <a:cs typeface="Tahoma"/>
              </a:rPr>
              <a:t>Unified</a:t>
            </a:r>
            <a:r>
              <a:rPr sz="175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85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Profiles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Combine</a:t>
            </a:r>
            <a:r>
              <a:rPr sz="14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multiple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signals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into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a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single,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actionable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score.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564" y="5074016"/>
            <a:ext cx="236854" cy="416559"/>
          </a:xfrm>
          <a:custGeom>
            <a:avLst/>
            <a:gdLst/>
            <a:ahLst/>
            <a:cxnLst/>
            <a:rect l="l" t="t" r="r" b="b"/>
            <a:pathLst>
              <a:path w="236855" h="416560">
                <a:moveTo>
                  <a:pt x="179644" y="0"/>
                </a:moveTo>
                <a:lnTo>
                  <a:pt x="125626" y="174203"/>
                </a:lnTo>
              </a:path>
              <a:path w="236855" h="416560">
                <a:moveTo>
                  <a:pt x="236251" y="174568"/>
                </a:moveTo>
                <a:lnTo>
                  <a:pt x="125626" y="174203"/>
                </a:lnTo>
              </a:path>
              <a:path w="236855" h="416560">
                <a:moveTo>
                  <a:pt x="236251" y="174568"/>
                </a:moveTo>
                <a:lnTo>
                  <a:pt x="50388" y="416268"/>
                </a:lnTo>
              </a:path>
              <a:path w="236855" h="416560">
                <a:moveTo>
                  <a:pt x="111712" y="226684"/>
                </a:moveTo>
                <a:lnTo>
                  <a:pt x="50388" y="416268"/>
                </a:lnTo>
              </a:path>
              <a:path w="236855" h="416560">
                <a:moveTo>
                  <a:pt x="111712" y="226684"/>
                </a:moveTo>
                <a:lnTo>
                  <a:pt x="0" y="225422"/>
                </a:lnTo>
              </a:path>
              <a:path w="236855" h="416560">
                <a:moveTo>
                  <a:pt x="179644" y="0"/>
                </a:moveTo>
                <a:lnTo>
                  <a:pt x="0" y="225422"/>
                </a:lnTo>
              </a:path>
            </a:pathLst>
          </a:custGeom>
          <a:ln w="18437">
            <a:solidFill>
              <a:srgbClr val="4850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1304" y="5666613"/>
            <a:ext cx="574230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Enable</a:t>
            </a:r>
            <a:r>
              <a:rPr sz="175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55" dirty="0">
                <a:solidFill>
                  <a:srgbClr val="272424"/>
                </a:solidFill>
                <a:latin typeface="Tahoma"/>
                <a:cs typeface="Tahoma"/>
              </a:rPr>
              <a:t>Proactive</a:t>
            </a:r>
            <a:r>
              <a:rPr sz="175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35" dirty="0">
                <a:solidFill>
                  <a:srgbClr val="272424"/>
                </a:solidFill>
                <a:latin typeface="Tahoma"/>
                <a:cs typeface="Tahoma"/>
              </a:rPr>
              <a:t>Decision-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Making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65"/>
              </a:spcBef>
            </a:pP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Allow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early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detection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5" dirty="0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support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timely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collection 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strategies.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88458" y="5064795"/>
            <a:ext cx="297869" cy="43470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393940" y="5666613"/>
            <a:ext cx="641032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85" dirty="0">
                <a:solidFill>
                  <a:srgbClr val="272424"/>
                </a:solidFill>
                <a:latin typeface="Tahoma"/>
                <a:cs typeface="Tahoma"/>
              </a:rPr>
              <a:t>Incorporate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272424"/>
                </a:solidFill>
                <a:latin typeface="Tahoma"/>
                <a:cs typeface="Tahoma"/>
              </a:rPr>
              <a:t>Self-</a:t>
            </a:r>
            <a:r>
              <a:rPr sz="1750" b="1" spc="-75" dirty="0">
                <a:solidFill>
                  <a:srgbClr val="272424"/>
                </a:solidFill>
                <a:latin typeface="Tahoma"/>
                <a:cs typeface="Tahoma"/>
              </a:rPr>
              <a:t>Healing</a:t>
            </a:r>
            <a:r>
              <a:rPr sz="1750" b="1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750" b="1" spc="-10" dirty="0">
                <a:solidFill>
                  <a:srgbClr val="272424"/>
                </a:solidFill>
                <a:latin typeface="Tahoma"/>
                <a:cs typeface="Tahoma"/>
              </a:rPr>
              <a:t>Mechanisms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665"/>
              </a:spcBef>
            </a:pP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Automatically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detect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failures,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performance</a:t>
            </a:r>
            <a:r>
              <a:rPr sz="1400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issues,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overload 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conditions,</a:t>
            </a:r>
            <a:r>
              <a:rPr sz="1400" spc="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trigger </a:t>
            </a:r>
            <a:r>
              <a:rPr sz="1400" spc="70" dirty="0">
                <a:solidFill>
                  <a:srgbClr val="272424"/>
                </a:solidFill>
                <a:latin typeface="Tahoma"/>
                <a:cs typeface="Tahoma"/>
              </a:rPr>
              <a:t>recovery</a:t>
            </a:r>
            <a:r>
              <a:rPr sz="1400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actions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85" dirty="0">
                <a:solidFill>
                  <a:srgbClr val="272424"/>
                </a:solidFill>
                <a:latin typeface="Tahoma"/>
                <a:cs typeface="Tahoma"/>
              </a:rPr>
              <a:t>such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80" dirty="0">
                <a:solidFill>
                  <a:srgbClr val="272424"/>
                </a:solidFill>
                <a:latin typeface="Tahoma"/>
                <a:cs typeface="Tahoma"/>
              </a:rPr>
              <a:t>as</a:t>
            </a:r>
            <a:r>
              <a:rPr sz="14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restart,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scaling,</a:t>
            </a:r>
            <a:r>
              <a:rPr sz="140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or </a:t>
            </a:r>
            <a:r>
              <a:rPr sz="1400" spc="35" dirty="0">
                <a:solidFill>
                  <a:srgbClr val="272424"/>
                </a:solidFill>
                <a:latin typeface="Tahoma"/>
                <a:cs typeface="Tahoma"/>
              </a:rPr>
              <a:t>fallback.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3490" y="7181189"/>
            <a:ext cx="85629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272424"/>
                </a:solidFill>
                <a:latin typeface="Tahoma"/>
                <a:cs typeface="Tahoma"/>
              </a:rPr>
              <a:t>The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goal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272424"/>
                </a:solidFill>
                <a:latin typeface="Tahoma"/>
                <a:cs typeface="Tahoma"/>
              </a:rPr>
              <a:t>is</a:t>
            </a:r>
            <a:r>
              <a:rPr sz="14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shift</a:t>
            </a:r>
            <a:r>
              <a:rPr sz="1400" spc="4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from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static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272424"/>
                </a:solidFill>
                <a:latin typeface="Tahoma"/>
                <a:cs typeface="Tahoma"/>
              </a:rPr>
              <a:t>credit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evaluation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 continuous,</a:t>
            </a:r>
            <a:r>
              <a:rPr sz="1400" spc="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intelligent,</a:t>
            </a:r>
            <a:r>
              <a:rPr sz="1400" spc="4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spc="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272424"/>
                </a:solidFill>
                <a:latin typeface="Tahoma"/>
                <a:cs typeface="Tahoma"/>
              </a:rPr>
              <a:t>resilient</a:t>
            </a:r>
            <a:r>
              <a:rPr sz="1400" spc="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400" spc="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72424"/>
                </a:solidFill>
                <a:latin typeface="Tahoma"/>
                <a:cs typeface="Tahoma"/>
              </a:rPr>
              <a:t>monitoring.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3788" y="7007783"/>
            <a:ext cx="22860" cy="588010"/>
          </a:xfrm>
          <a:custGeom>
            <a:avLst/>
            <a:gdLst/>
            <a:ahLst/>
            <a:cxnLst/>
            <a:rect l="l" t="t" r="r" b="b"/>
            <a:pathLst>
              <a:path w="22859" h="588009">
                <a:moveTo>
                  <a:pt x="22859" y="0"/>
                </a:moveTo>
                <a:lnTo>
                  <a:pt x="0" y="0"/>
                </a:lnTo>
                <a:lnTo>
                  <a:pt x="0" y="587692"/>
                </a:lnTo>
                <a:lnTo>
                  <a:pt x="22859" y="587692"/>
                </a:lnTo>
                <a:lnTo>
                  <a:pt x="22859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0613" y="349042"/>
            <a:ext cx="34855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65" dirty="0"/>
              <a:t>Literature</a:t>
            </a:r>
            <a:r>
              <a:rPr sz="3300" spc="-25" dirty="0"/>
              <a:t> </a:t>
            </a:r>
            <a:r>
              <a:rPr sz="3300" spc="-120" dirty="0"/>
              <a:t>Review</a:t>
            </a:r>
            <a:endParaRPr sz="33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88" y="1069950"/>
            <a:ext cx="13166090" cy="67082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76252"/>
              </p:ext>
            </p:extLst>
          </p:nvPr>
        </p:nvGraphicFramePr>
        <p:xfrm>
          <a:off x="790613" y="1066800"/>
          <a:ext cx="13166724" cy="6995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3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535">
                <a:tc>
                  <a:txBody>
                    <a:bodyPr/>
                    <a:lstStyle/>
                    <a:p>
                      <a:pPr marL="19050">
                        <a:lnSpc>
                          <a:spcPts val="1550"/>
                        </a:lnSpc>
                      </a:pPr>
                      <a:r>
                        <a:rPr sz="13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Paper</a:t>
                      </a:r>
                      <a:r>
                        <a:rPr sz="1300" b="1" spc="-6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550"/>
                        </a:lnSpc>
                      </a:pPr>
                      <a:r>
                        <a:rPr sz="1300" b="1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550"/>
                        </a:lnSpc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Author(s)</a:t>
                      </a:r>
                      <a:endParaRPr sz="13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550"/>
                        </a:lnSpc>
                      </a:pPr>
                      <a:r>
                        <a:rPr sz="13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550"/>
                        </a:lnSpc>
                      </a:pPr>
                      <a:r>
                        <a:rPr sz="13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Brief</a:t>
                      </a:r>
                      <a:r>
                        <a:rPr sz="1300" b="1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 marR="616585" algn="just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</a:t>
                      </a:r>
                      <a:r>
                        <a:rPr sz="14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Assessment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Supervised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Algorithms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Tianyi</a:t>
                      </a:r>
                      <a:r>
                        <a:rPr sz="14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Xu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ResearchGate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91440">
                        <a:lnSpc>
                          <a:spcPts val="1560"/>
                        </a:lnSpc>
                        <a:spcBef>
                          <a:spcPts val="40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supervised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ML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(Random Forest,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SVM,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Neural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Networks)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</a:t>
                      </a:r>
                      <a:r>
                        <a:rPr sz="13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3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prediction</a:t>
                      </a:r>
                      <a:r>
                        <a:rPr sz="13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3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historical</a:t>
                      </a:r>
                      <a:r>
                        <a:rPr sz="13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financial datasets.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 marR="13843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Prediction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Machine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Victor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Chang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MDPI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1550"/>
                        </a:lnSpc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Applies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ML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  <a:p>
                      <a:pPr marL="19685" marR="295910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predict</a:t>
                      </a:r>
                      <a:r>
                        <a:rPr sz="13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3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defaults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on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indicators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borrower behavior.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 marR="55054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Supervised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ML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Detecting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Card</a:t>
                      </a:r>
                      <a:r>
                        <a:rPr sz="14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2023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Afriyie</a:t>
                      </a:r>
                      <a:r>
                        <a:rPr sz="14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al.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ScienceDirect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58419">
                        <a:lnSpc>
                          <a:spcPts val="1560"/>
                        </a:lnSpc>
                        <a:spcBef>
                          <a:spcPts val="40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transaction-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level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classification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algorithms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such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Logistic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Regression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Forest.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 marL="19050" marR="32512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14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</a:t>
                      </a:r>
                      <a:r>
                        <a:rPr sz="14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4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through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Learning: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Systematic Review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Hernandez</a:t>
                      </a:r>
                      <a:r>
                        <a:rPr sz="14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Aros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al.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04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 marR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Nature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(Humanities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Social</a:t>
                      </a:r>
                      <a:r>
                        <a:rPr sz="14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Sciences Communications)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276225">
                        <a:lnSpc>
                          <a:spcPts val="1560"/>
                        </a:lnSpc>
                        <a:spcBef>
                          <a:spcPts val="45"/>
                        </a:spcBef>
                      </a:pP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Reviews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ML-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r>
                        <a:rPr sz="1300" spc="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3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approaches,</a:t>
                      </a:r>
                      <a:r>
                        <a:rPr sz="13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highlighting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challenges</a:t>
                      </a:r>
                      <a:r>
                        <a:rPr sz="13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like</a:t>
                      </a:r>
                      <a:r>
                        <a:rPr sz="13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3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imbalance</a:t>
                      </a:r>
                      <a:r>
                        <a:rPr sz="13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r>
                        <a:rPr sz="1300" spc="-6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limitations.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19050" marR="17081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4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Modelling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Detection: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Comprehensive</a:t>
                      </a:r>
                      <a:r>
                        <a:rPr sz="14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Review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9842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Various</a:t>
                      </a:r>
                      <a:r>
                        <a:rPr sz="14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Authors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IJERT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389890" algn="just">
                        <a:lnSpc>
                          <a:spcPts val="1560"/>
                        </a:lnSpc>
                        <a:spcBef>
                          <a:spcPts val="45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Surveys</a:t>
                      </a:r>
                      <a:r>
                        <a:rPr sz="1300" spc="-6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evolution</a:t>
                      </a:r>
                      <a:r>
                        <a:rPr sz="13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300" spc="-5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statistical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ML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deep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learning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techniques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3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analysis.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Explainability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4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Scoring</a:t>
                      </a:r>
                      <a:r>
                        <a:rPr sz="14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2020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Sebastian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Bücker</a:t>
                      </a:r>
                      <a:r>
                        <a:rPr sz="14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al.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arXiv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46355">
                        <a:lnSpc>
                          <a:spcPts val="1560"/>
                        </a:lnSpc>
                        <a:spcBef>
                          <a:spcPts val="45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Discusses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explainable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techniques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r>
                        <a:rPr sz="1300" spc="-5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scoring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challenges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of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balancing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interpretability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model performance.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 marR="472440">
                        <a:lnSpc>
                          <a:spcPct val="100000"/>
                        </a:lnSpc>
                      </a:pP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Event-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Driven</a:t>
                      </a:r>
                      <a:r>
                        <a:rPr sz="1400" spc="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Architectures</a:t>
                      </a:r>
                      <a:r>
                        <a:rPr sz="1400" spc="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Apache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Kafka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Mandloi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al.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 marR="32194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International</a:t>
                      </a:r>
                      <a:r>
                        <a:rPr sz="1400" spc="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Journal of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Computer Applications</a:t>
                      </a:r>
                      <a:r>
                        <a:rPr sz="1400" spc="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(IJCA)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167005">
                        <a:lnSpc>
                          <a:spcPts val="1560"/>
                        </a:lnSpc>
                        <a:spcBef>
                          <a:spcPts val="45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Explores</a:t>
                      </a:r>
                      <a:r>
                        <a:rPr sz="1300" spc="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real-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event-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driven systems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sz="1300" spc="-3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Kafka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4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their</a:t>
                      </a:r>
                      <a:r>
                        <a:rPr sz="13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r>
                        <a:rPr sz="13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scalable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streaming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fraud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300" spc="-7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pipelines.</a:t>
                      </a:r>
                      <a:endParaRPr sz="13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0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 marR="234315">
                        <a:lnSpc>
                          <a:spcPct val="100000"/>
                        </a:lnSpc>
                      </a:pP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Event-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Driven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Agents</a:t>
                      </a:r>
                      <a:r>
                        <a:rPr sz="1400" spc="-3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Agent</a:t>
                      </a:r>
                      <a:r>
                        <a:rPr sz="14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Systems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Sean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Falconer</a:t>
                      </a:r>
                      <a:endParaRPr sz="14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Confluent</a:t>
                      </a:r>
                      <a:r>
                        <a:rPr sz="1400" spc="-6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Whitepaper</a:t>
                      </a:r>
                      <a:endParaRPr sz="14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685" marR="210185">
                        <a:lnSpc>
                          <a:spcPts val="1560"/>
                        </a:lnSpc>
                        <a:spcBef>
                          <a:spcPts val="50"/>
                        </a:spcBef>
                      </a:pP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Describes</a:t>
                      </a:r>
                      <a:r>
                        <a:rPr sz="1300" spc="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how</a:t>
                      </a:r>
                      <a:r>
                        <a:rPr sz="1300" spc="-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event-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driven architectures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enable</a:t>
                      </a:r>
                      <a:r>
                        <a:rPr sz="1300" spc="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scalable communication</a:t>
                      </a:r>
                      <a:r>
                        <a:rPr sz="1300" spc="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coordination</a:t>
                      </a:r>
                      <a:r>
                        <a:rPr sz="1300" spc="1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sz="13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agent </a:t>
                      </a:r>
                      <a:r>
                        <a:rPr sz="13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systems.</a:t>
                      </a:r>
                      <a:endParaRPr sz="13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8807" y="517999"/>
            <a:ext cx="13092785" cy="658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System</a:t>
            </a:r>
            <a:r>
              <a:rPr spc="-130" dirty="0"/>
              <a:t> </a:t>
            </a:r>
            <a:r>
              <a:rPr spc="-10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807" y="7600697"/>
            <a:ext cx="959439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spc="-35" dirty="0">
                <a:solidFill>
                  <a:srgbClr val="272424"/>
                </a:solidFill>
                <a:latin typeface="Tahoma"/>
                <a:cs typeface="Tahoma"/>
              </a:rPr>
              <a:t>-&gt; </a:t>
            </a:r>
            <a:r>
              <a:rPr sz="1400" b="1" spc="-35" dirty="0">
                <a:solidFill>
                  <a:srgbClr val="272424"/>
                </a:solidFill>
                <a:latin typeface="Tahoma"/>
                <a:cs typeface="Tahoma"/>
              </a:rPr>
              <a:t>Decoupled,</a:t>
            </a:r>
            <a:r>
              <a:rPr sz="140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272424"/>
                </a:solidFill>
                <a:latin typeface="Tahoma"/>
                <a:cs typeface="Tahoma"/>
              </a:rPr>
              <a:t>event-</a:t>
            </a:r>
            <a:r>
              <a:rPr sz="1400" b="1" spc="-65" dirty="0">
                <a:solidFill>
                  <a:srgbClr val="272424"/>
                </a:solidFill>
                <a:latin typeface="Tahoma"/>
                <a:cs typeface="Tahoma"/>
              </a:rPr>
              <a:t>driven</a:t>
            </a:r>
            <a:r>
              <a:rPr sz="140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272424"/>
                </a:solidFill>
                <a:latin typeface="Tahoma"/>
                <a:cs typeface="Tahoma"/>
              </a:rPr>
              <a:t>multi-</a:t>
            </a:r>
            <a:r>
              <a:rPr sz="1400" b="1" spc="-70" dirty="0">
                <a:solidFill>
                  <a:srgbClr val="272424"/>
                </a:solidFill>
                <a:latin typeface="Tahoma"/>
                <a:cs typeface="Tahoma"/>
              </a:rPr>
              <a:t>agent</a:t>
            </a:r>
            <a:r>
              <a:rPr sz="1400" b="1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272424"/>
                </a:solidFill>
                <a:latin typeface="Tahoma"/>
                <a:cs typeface="Tahoma"/>
              </a:rPr>
              <a:t>architecture</a:t>
            </a:r>
            <a:r>
              <a:rPr sz="140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272424"/>
                </a:solidFill>
                <a:latin typeface="Tahoma"/>
                <a:cs typeface="Tahoma"/>
              </a:rPr>
              <a:t>enabling</a:t>
            </a:r>
            <a:r>
              <a:rPr sz="1400" b="1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400" b="1" spc="-95" dirty="0">
                <a:solidFill>
                  <a:srgbClr val="272424"/>
                </a:solidFill>
                <a:latin typeface="Tahoma"/>
                <a:cs typeface="Tahoma"/>
              </a:rPr>
              <a:t>time</a:t>
            </a:r>
            <a:r>
              <a:rPr sz="1400" b="1" spc="-1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400" b="1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272424"/>
                </a:solidFill>
                <a:latin typeface="Tahoma"/>
                <a:cs typeface="Tahoma"/>
              </a:rPr>
              <a:t>intelligence</a:t>
            </a:r>
            <a:r>
              <a:rPr sz="140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sz="1400" b="1" spc="-1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272424"/>
                </a:solidFill>
                <a:latin typeface="Tahoma"/>
                <a:cs typeface="Tahoma"/>
              </a:rPr>
              <a:t>system</a:t>
            </a:r>
            <a:r>
              <a:rPr sz="1400" b="1" spc="-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72424"/>
                </a:solidFill>
                <a:latin typeface="Tahoma"/>
                <a:cs typeface="Tahoma"/>
              </a:rPr>
              <a:t>resilience.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BABD7-D030-CC42-4A45-A3929F56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93259"/>
            <a:ext cx="9739073" cy="6073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8807" y="300273"/>
            <a:ext cx="13092785" cy="658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85" dirty="0"/>
              <a:t>Methodology</a:t>
            </a:r>
            <a:endParaRPr sz="3050" dirty="0"/>
          </a:p>
        </p:txBody>
      </p:sp>
      <p:sp>
        <p:nvSpPr>
          <p:cNvPr id="33" name="object 33"/>
          <p:cNvSpPr txBox="1"/>
          <p:nvPr/>
        </p:nvSpPr>
        <p:spPr>
          <a:xfrm>
            <a:off x="996462" y="7571389"/>
            <a:ext cx="7193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0" dirty="0">
                <a:solidFill>
                  <a:srgbClr val="272424"/>
                </a:solidFill>
                <a:latin typeface="Tahoma"/>
                <a:cs typeface="Tahoma"/>
              </a:rPr>
              <a:t>ACIS-</a:t>
            </a:r>
            <a:r>
              <a:rPr sz="1200" b="1" dirty="0">
                <a:solidFill>
                  <a:srgbClr val="272424"/>
                </a:solidFill>
                <a:latin typeface="Tahoma"/>
                <a:cs typeface="Tahoma"/>
              </a:rPr>
              <a:t>X</a:t>
            </a:r>
            <a:r>
              <a:rPr sz="1200" b="1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272424"/>
                </a:solidFill>
                <a:latin typeface="Tahoma"/>
                <a:cs typeface="Tahoma"/>
              </a:rPr>
              <a:t>processes</a:t>
            </a:r>
            <a:r>
              <a:rPr sz="120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272424"/>
                </a:solidFill>
                <a:latin typeface="Tahoma"/>
                <a:cs typeface="Tahoma"/>
              </a:rPr>
              <a:t>continuous</a:t>
            </a:r>
            <a:r>
              <a:rPr sz="120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272424"/>
                </a:solidFill>
                <a:latin typeface="Tahoma"/>
                <a:cs typeface="Tahoma"/>
              </a:rPr>
              <a:t>event</a:t>
            </a:r>
            <a:r>
              <a:rPr sz="120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272424"/>
                </a:solidFill>
                <a:latin typeface="Tahoma"/>
                <a:cs typeface="Tahoma"/>
              </a:rPr>
              <a:t>streams</a:t>
            </a:r>
            <a:r>
              <a:rPr sz="120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sz="1200" b="1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272424"/>
                </a:solidFill>
                <a:latin typeface="Tahoma"/>
                <a:cs typeface="Tahoma"/>
              </a:rPr>
              <a:t>generate</a:t>
            </a:r>
            <a:r>
              <a:rPr sz="1200" b="1" spc="-2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30" dirty="0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sz="1200" b="1" spc="-80" dirty="0">
                <a:solidFill>
                  <a:srgbClr val="272424"/>
                </a:solidFill>
                <a:latin typeface="Tahoma"/>
                <a:cs typeface="Tahoma"/>
              </a:rPr>
              <a:t>time,</a:t>
            </a:r>
            <a:r>
              <a:rPr sz="1200" b="1" spc="-2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272424"/>
                </a:solidFill>
                <a:latin typeface="Tahoma"/>
                <a:cs typeface="Tahoma"/>
              </a:rPr>
              <a:t>adaptive</a:t>
            </a:r>
            <a:r>
              <a:rPr sz="1200" b="1" spc="-35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272424"/>
                </a:solidFill>
                <a:latin typeface="Tahoma"/>
                <a:cs typeface="Tahoma"/>
              </a:rPr>
              <a:t>credit </a:t>
            </a:r>
            <a:r>
              <a:rPr sz="1200" b="1" spc="-50" dirty="0">
                <a:solidFill>
                  <a:srgbClr val="272424"/>
                </a:solidFill>
                <a:latin typeface="Tahoma"/>
                <a:cs typeface="Tahoma"/>
              </a:rPr>
              <a:t>risk</a:t>
            </a:r>
            <a:r>
              <a:rPr sz="1200" b="1" spc="-30" dirty="0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272424"/>
                </a:solidFill>
                <a:latin typeface="Tahoma"/>
                <a:cs typeface="Tahoma"/>
              </a:rPr>
              <a:t>intelligence.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4669" y="7452491"/>
            <a:ext cx="22860" cy="453390"/>
          </a:xfrm>
          <a:custGeom>
            <a:avLst/>
            <a:gdLst/>
            <a:ahLst/>
            <a:cxnLst/>
            <a:rect l="l" t="t" r="r" b="b"/>
            <a:pathLst>
              <a:path w="22859" h="453390">
                <a:moveTo>
                  <a:pt x="22859" y="0"/>
                </a:moveTo>
                <a:lnTo>
                  <a:pt x="0" y="0"/>
                </a:lnTo>
                <a:lnTo>
                  <a:pt x="0" y="453390"/>
                </a:lnTo>
                <a:lnTo>
                  <a:pt x="22859" y="453390"/>
                </a:lnTo>
                <a:lnTo>
                  <a:pt x="22859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CF59C9-5503-2BD8-F860-58C88259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7" y="941182"/>
            <a:ext cx="13092785" cy="6327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609600" y="228600"/>
            <a:ext cx="626173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IN" sz="4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</a:t>
            </a:r>
          </a:p>
          <a:p>
            <a:pPr algn="l"/>
            <a:endParaRPr sz="44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2A0C53D-17C8-A39D-24CB-E9D324ABF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812785"/>
            <a:ext cx="10287000" cy="7188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737</Words>
  <Application>Microsoft Office PowerPoint</Application>
  <PresentationFormat>Custom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Tahoma</vt:lpstr>
      <vt:lpstr>Times New Roman</vt:lpstr>
      <vt:lpstr>Office Theme</vt:lpstr>
      <vt:lpstr>ACIS-X</vt:lpstr>
      <vt:lpstr>Abstract</vt:lpstr>
      <vt:lpstr>Problem Statement</vt:lpstr>
      <vt:lpstr>Objectives</vt:lpstr>
      <vt:lpstr>Literature Review</vt:lpstr>
      <vt:lpstr>System Architecture</vt:lpstr>
      <vt:lpstr>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Nitin Bharadwaj</dc:creator>
  <cp:lastModifiedBy>NITIN BHARADWAJ</cp:lastModifiedBy>
  <cp:revision>2</cp:revision>
  <dcterms:created xsi:type="dcterms:W3CDTF">2026-07-23T13:54:21Z</dcterms:created>
  <dcterms:modified xsi:type="dcterms:W3CDTF">2026-07-23T17:51:39Z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2026-07-23T00:00:00Z</vt:filetime>
  </property>
  <property fmtid="{D5CDD505-2E9C-101B-9397-08002B2CF9AE}" pid="6" name="Producer">
    <vt:lpwstr>Microsoft® PowerPoint® 2024</vt:lpwstr>
  </property>
</Properties>
</file>